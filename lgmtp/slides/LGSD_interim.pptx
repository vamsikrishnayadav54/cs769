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3fda9b4a-5ef9-1d56-a6f6-a452a7a57535}">
          <p14:sldIdLst>
            <p14:sldId id="256"/>
          </p14:sldIdLst>
        </p14:section>
        <p14:section name="Problem" id="{70ffdbff-abbe-2c6c-d3e0-92b2f2b1846a}">
          <p14:sldIdLst>
            <p14:sldId id="257"/>
          </p14:sldIdLst>
        </p14:section>
        <p14:section name="Related work" id="{dc8d3e40-8707-71f7-1b1f-3ce06e568cd5}">
          <p14:sldIdLst>
            <p14:sldId id="258"/>
          </p14:sldIdLst>
        </p14:section>
        <p14:section name="Approach" id="{d6a41adf-a561-be79-8b83-76ead024423e}">
          <p14:sldIdLst>
            <p14:sldId id="259"/>
          </p14:sldIdLst>
        </p14:section>
        <p14:section name="Progress" id="{ad31a5f0-5211-40fc-4b4e-39b96f55fe5c}">
          <p14:sldIdLst>
            <p14:sldId id="260"/>
          </p14:sldIdLst>
        </p14:section>
        <p14:section name="Next steps" id="{07c56c84-190d-236f-31fc-070fb2bb9c08}">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A44"/>
                </a:solidFill>
                <a:latin typeface="+mn-lt"/>
              </a:defRPr>
            </a:pPr>
            <a:r>
              <a:rPr sz="1200" b="0" i="0" u="none" strike="noStrike">
                <a:solidFill>
                  <a:srgbClr val="1F2A44"/>
                </a:solidFill>
                <a:latin typeface="+mn-lt"/>
              </a:rPr>
              <a:t>Rejection rate by token position (%)</a:t>
            </a:r>
          </a:p>
        </c:rich>
      </c:tx>
      <c:layout/>
      <c:overlay val="0"/>
    </c:title>
    <c:autoTitleDeleted val="0"/>
    <c:plotArea>
      <c:layout/>
      <c:barChart>
        <c:barDir val="col"/>
        <c:grouping val="clustered"/>
        <c:varyColors val="0"/>
        <c:ser>
          <c:idx val="0"/>
          <c:order val="0"/>
          <c:tx>
            <c:strRef>
              <c:f>Sheet1!$B$1</c:f>
              <c:strCache>
                <c:ptCount val="1"/>
                <c:pt idx="0">
                  <c:v>Word-start tokens</c:v>
                </c:pt>
              </c:strCache>
            </c:strRef>
          </c:tx>
          <c:spPr>
            <a:solidFill>
              <a:srgbClr val="E8A33D"/>
            </a:solidFill>
            <a:effectLst/>
          </c:spPr>
          <c:invertIfNegative val="0"/>
          <c:dLbls>
            <c:numFmt formatCode="0.0" sourceLinked="0"/>
            <c:txPr>
              <a:bodyPr/>
              <a:lstStyle/>
              <a:p>
                <a:pPr>
                  <a:defRPr b="0" i="0" strike="noStrike" sz="1100" u="none">
                    <a:solidFill>
                      <a:srgbClr val="1F2A44"/>
                    </a:solidFill>
                    <a:latin typeface="+mn-lt"/>
                  </a:defRPr>
                </a:pPr>
              </a:p>
            </c:txPr>
            <c:showLegendKey val="0"/>
            <c:showVal val="1"/>
            <c:showCatName val="0"/>
            <c:showSerName val="0"/>
            <c:showPercent val="0"/>
            <c:showBubbleSize val="0"/>
            <c:showLeaderLines val="0"/>
          </c:dLbls>
          <c:cat>
            <c:multiLvlStrRef>
              <c:f>Sheet1!$A$2:$A$3</c:f>
              <c:multiLvlStrCache>
                <c:ptCount val="2"/>
                <c:lvl>
                  <c:pt idx="0">
                    <c:v>Qwen pair</c:v>
                  </c:pt>
                  <c:pt idx="1">
                    <c:v>Llama pair</c:v>
                  </c:pt>
                </c:lvl>
              </c:multiLvlStrCache>
            </c:multiLvlStrRef>
          </c:cat>
          <c:val>
            <c:numRef>
              <c:f>Sheet1!$B$2:$B$3</c:f>
              <c:numCache>
                <c:formatCode>General</c:formatCode>
                <c:ptCount val="2"/>
                <c:pt idx="0">
                  <c:v>27.7</c:v>
                </c:pt>
                <c:pt idx="1">
                  <c:v>17.6</c:v>
                </c:pt>
              </c:numCache>
            </c:numRef>
          </c:val>
        </c:ser>
        <c:ser>
          <c:idx val="1"/>
          <c:order val="1"/>
          <c:tx>
            <c:strRef>
              <c:f>Sheet1!$C$1</c:f>
              <c:strCache>
                <c:ptCount val="1"/>
                <c:pt idx="0">
                  <c:v>Continuation tokens</c:v>
                </c:pt>
              </c:strCache>
            </c:strRef>
          </c:tx>
          <c:spPr>
            <a:solidFill>
              <a:srgbClr val="2A9D8F"/>
            </a:solidFill>
            <a:effectLst/>
          </c:spPr>
          <c:invertIfNegative val="0"/>
          <c:dLbls>
            <c:numFmt formatCode="0.0" sourceLinked="0"/>
            <c:txPr>
              <a:bodyPr/>
              <a:lstStyle/>
              <a:p>
                <a:pPr>
                  <a:defRPr b="0" i="0" strike="noStrike" sz="1100" u="none">
                    <a:solidFill>
                      <a:srgbClr val="1F2A44"/>
                    </a:solidFill>
                    <a:latin typeface="+mn-lt"/>
                  </a:defRPr>
                </a:pPr>
              </a:p>
            </c:txPr>
            <c:showLegendKey val="0"/>
            <c:showVal val="1"/>
            <c:showCatName val="0"/>
            <c:showSerName val="0"/>
            <c:showPercent val="0"/>
            <c:showBubbleSize val="0"/>
            <c:showLeaderLines val="0"/>
          </c:dLbls>
          <c:cat>
            <c:multiLvlStrRef>
              <c:f>Sheet1!$A$2:$A$3</c:f>
              <c:multiLvlStrCache>
                <c:ptCount val="2"/>
                <c:lvl>
                  <c:pt idx="0">
                    <c:v>Qwen pair</c:v>
                  </c:pt>
                  <c:pt idx="1">
                    <c:v>Llama pair</c:v>
                  </c:pt>
                </c:lvl>
              </c:multiLvlStrCache>
            </c:multiLvlStrRef>
          </c:cat>
          <c:val>
            <c:numRef>
              <c:f>Sheet1!$C$2:$C$3</c:f>
              <c:numCache>
                <c:formatCode>General</c:formatCode>
                <c:ptCount val="2"/>
                <c:pt idx="0">
                  <c:v>16.1</c:v>
                </c:pt>
                <c:pt idx="1">
                  <c:v>12.3</c:v>
                </c:pt>
              </c:numCache>
            </c:numRef>
          </c:val>
        </c:ser>
        <c:dLbls>
          <c:numFmt formatCode="0.0" sourceLinked="0"/>
          <c:txPr>
            <a:bodyPr/>
            <a:lstStyle/>
            <a:p>
              <a:pPr>
                <a:defRPr b="0" i="0" strike="noStrike" sz="1100" u="none">
                  <a:solidFill>
                    <a:srgbClr val="1F2A4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C8F"/>
                </a:solidFill>
                <a:latin typeface="+mn-lt"/>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6350" cap="flat">
              <a:solidFill>
                <a:srgbClr val="D5DC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C8F"/>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A44"/>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about 5 seconds. "We're working on linguistically guided drafting for speculative decoding: using the structure of language to decide how a language model guesses ahead." Then move straight to slide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"Language models write one token at a time, and every token needs a full pass through the model. That's slow, but there's a loophole: checking several tokens costs about the same as producing one. Speculative decoding uses this. A small model guesses a few tokens ahead, and the big model checks all the guesses in one pass. But how far to guess, and how much to accept, is decided by a fixed number or a confidence score, which knows nothing about language. Yet language has natural units. Once you've written 'New', 'York City' is almost free. Once you start 'kick the', 'bucket' follows. So we ask: if drafting and acceptance respect linguistic boundaries, do we do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"Three papers frame our work. Leviathan and colleagues introduced speculative decoding: a small model drafts, a big model verifies, and the output is exactly what the big model would write. Meta's multi-token prediction builds extra heads into one model to predict several tokens at once. Medusa adds typical acceptance, which accepts tokens the big model finds probable enough. In all three, the length of a guess and what gets accepted come down to a token count or a probability. None of them use the structure of language. That's our gap: we use linguistic units at both the drafting step and the verification step, with no training."
If asked why not use Meta's MTP model directly: its heads are fixed at training time, so you can't vary where drafting stops. A separate drafter lets us test any stopping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"We use two model pairs, a small drafter with a large target from the same family, so they share a vocabulary. Evaluation is on Spec-Bench, the standard benchmark for speculative decoding, across six task types. For linguistic structure we use spaCy for phrases and named entities, and public multi-word expression lists like MAGPIE. Our method has two places to intervene. At drafting, instead of a fixed count, we stop at a word or phrase boundary. At verification, we either roll back to the last complete unit, which keeps the output exact, or let a started idiom finish, which is faster but can change the output. Our main metric is MAT, the mean number of tokens produced per pass of the big model, because it doesn't depend on hardware."
Key point if asked: changing drafting can never change the output text, only the speed. Only verification rules can change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"We built the speculative decoding loop ourselves so we control both the stopping and acceptance rules. In full precision, it reproduces the big model's output exactly on all 60 prompts, so it's lossless. Our main finding: when the big model rejects a drafted token, it is much more often the start of a word. Word-start tokens are rejected 1.4 to 1.9 times as often as tokens inside a word, on both model pairs and every policy we tried, and it's highly significant. That confirms uncertainty sits at the start of linguistic units. But using word boundaries alone to stop drafting only ties with a fixed window. The drafter's confidence is the stronger signal. Checking confidence only at word starts lands in between: continuations still need a check. Our best speedup is 1.3 times on the Llama pair."
Chart data (in case the chart doesn't render): reject rate at word starts vs continuations, fixed:4 — Qwen 27.7% vs 16.1% (p &lt; 1e-14); Llama 17.6% vs 12.3% (p &lt; 1e-4).
Table method: each policy's MAT minus what a fixed window would score at the same average draft length (interpolated between k = 2, 4, 6, 8). 60 Spec-Bench prompts, 128 tokens each, bf16, A40.
If asked about the Qwen pair: MAT reaches 3.5, but no wall-clock speedup, because in plain HuggingFace code the 0.5B drafter (24 layers) isn't much cheaper per call than the target. That's why MAT is our main metric.
If asked whether word-starts are just harder because that's where content decisions happen: yes, that's exactly the point; it's why unit boundaries are natural decision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"Next, our results point to a two-threshold drafting rule: strict confidence at word starts, a looser one for continuations. On the verification side, 15 to 20 percent of rounds end in the middle of a word, under every drafting policy, because the big model's bonus token usually starts a new word. Drafting rules can't fix that, so we'll add a roll-back rule that ends rounds at the last complete word, which stays exact. We'll then extend boundaries to phrases and named entities, complete idioms from MAGPIE, and run the full benchmark on both pairs. As a stretch goal, an Indic slice using named entities, the one linguistic resource available for Indic languages. Main challenges: parsing inside the loop costs time, word-level drafts are short, and idioms are rare in normal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51560"/>
            <a:ext cx="8046720" cy="13716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ph idx="101" type="body" hasCustomPrompt="1"/>
          </p:nvPr>
        </p:nvSpPr>
        <p:spPr>
          <a:xfrm>
            <a:off x="548640" y="2560320"/>
            <a:ext cx="8046720" cy="457200"/>
          </a:xfrm>
          <a:prstGeom prst="rect">
            <a:avLst/>
          </a:prstGeom>
          <a:noFill/>
          <a:ln/>
        </p:spPr>
        <p:txBody>
          <a:bodyPr wrap="square" rtlCol="0"/>
          <a:lstStyle>
            <a:lvl1pPr indent="0" marL="0">
              <a:buNone/>
              <a:defRPr lang="en-US" sz="1800" dirty="0">
                <a:solidFill>
                  <a:schemeClr val="accent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lstStyle>
            <a:lvl1pPr indent="0" marL="0">
              <a:buNone/>
              <a:defRPr lang="en-US" sz="2800" b="1" dirty="0">
                <a:solidFill>
                  <a:schemeClr val="tx2"/>
                </a:solidFill>
              </a:defRPr>
            </a:lvl1pPr>
          </a:lstStyle>
          <a:p>
            <a:pPr indent="0" marL="0">
              <a:buNone/>
            </a:pPr>
            <a:endParaRPr lang="en-US" sz="2800" dirty="0"/>
          </a:p>
        </p:txBody>
      </p:sp>
      <p:sp>
        <p:nvSpPr>
          <p:cNvPr id="3" name="Text 0"/>
          <p:cNvSpPr txBox="1"/>
          <p:nvPr/>
        </p:nvSpPr>
        <p:spPr>
          <a:xfrm>
            <a:off x="457200" y="4754880"/>
            <a:ext cx="5943600" cy="274320"/>
          </a:xfrm>
          <a:prstGeom prst="rect">
            <a:avLst/>
          </a:prstGeom>
          <a:noFill/>
          <a:ln/>
        </p:spPr>
        <p:txBody>
          <a:bodyPr wrap="square" lIns="0" tIns="0" rIns="0" bIns="0" rtlCol="0" anchor="ctr"/>
          <a:lstStyle/>
          <a:p>
            <a:pPr indent="0" marL="0">
              <a:buNone/>
            </a:pPr>
            <a:r>
              <a:rPr lang="en-US" sz="1000" dirty="0">
                <a:solidFill>
                  <a:schemeClr val="accent5"/>
                </a:solidFill>
              </a:rPr>
              <a:t>CS769: Optimisation in ML  ·  Interim presentation</a:t>
            </a:r>
            <a:endParaRPr lang="en-US" sz="1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51560"/>
            <a:ext cx="8046720" cy="1371600"/>
          </a:xfrm>
          <a:prstGeom prst="rect">
            <a:avLst/>
          </a:prstGeom>
          <a:noFill/>
          <a:ln/>
        </p:spPr>
        <p:txBody>
          <a:bodyPr wrap="square" rtlCol="0" anchor="b"/>
          <a:lstStyle/>
          <a:p>
            <a:pPr algn="l" indent="0" marL="0">
              <a:buNone/>
            </a:pPr>
            <a:r>
              <a:rPr lang="en-US" sz="3600" b="1" dirty="0">
                <a:solidFill>
                  <a:schemeClr val="bg1"/>
                </a:solidFill>
              </a:rPr>
              <a:t>Linguistically Guided Drafting for Speculative Decoding</a:t>
            </a:r>
            <a:endParaRPr lang="en-US" sz="3600" dirty="0"/>
          </a:p>
        </p:txBody>
      </p:sp>
      <p:sp>
        <p:nvSpPr>
          <p:cNvPr id="3" name="Text 0"/>
          <p:cNvSpPr/>
          <p:nvPr>
            <p:ph idx="101" type="body" hasCustomPrompt="1"/>
          </p:nvPr>
        </p:nvSpPr>
        <p:spPr>
          <a:xfrm>
            <a:off x="548640" y="2560320"/>
            <a:ext cx="8046720" cy="457200"/>
          </a:xfrm>
          <a:prstGeom prst="rect">
            <a:avLst/>
          </a:prstGeom>
          <a:noFill/>
          <a:ln/>
        </p:spPr>
        <p:txBody>
          <a:bodyPr wrap="square" rtlCol="0"/>
          <a:lstStyle/>
          <a:p>
            <a:pPr indent="0" marL="0">
              <a:buNone/>
            </a:pPr>
            <a:r>
              <a:rPr lang="en-US" sz="1800" dirty="0">
                <a:solidFill>
                  <a:schemeClr val="accent1"/>
                </a:solidFill>
              </a:rPr>
              <a:t>CS769: Optimisation in ML  ·  Interim project presentation</a:t>
            </a:r>
            <a:endParaRPr lang="en-US" sz="1800" dirty="0"/>
          </a:p>
        </p:txBody>
      </p:sp>
      <p:sp>
        <p:nvSpPr>
          <p:cNvPr id="4" name="title-token-0"/>
          <p:cNvSpPr txBox="1"/>
          <p:nvPr/>
        </p:nvSpPr>
        <p:spPr>
          <a:xfrm>
            <a:off x="548640" y="411480"/>
            <a:ext cx="960120" cy="411480"/>
          </a:xfrm>
          <a:prstGeom prst="roundRect">
            <a:avLst>
              <a:gd name="adj" fmla="val 26667"/>
            </a:avLst>
          </a:prstGeom>
          <a:solidFill>
            <a:schemeClr val="accent1"/>
          </a:solidFill>
          <a:ln/>
        </p:spPr>
        <p:txBody>
          <a:bodyPr wrap="square" lIns="0" tIns="0" rIns="0" bIns="0" rtlCol="0" anchor="ctr"/>
          <a:lstStyle/>
          <a:p>
            <a:pPr algn="ctr" indent="0" marL="0">
              <a:buNone/>
            </a:pPr>
            <a:r>
              <a:rPr lang="en-US" sz="1500" b="1" dirty="0">
                <a:solidFill>
                  <a:schemeClr val="tx2"/>
                </a:solidFill>
              </a:rPr>
              <a:t>New</a:t>
            </a:r>
            <a:endParaRPr lang="en-US" sz="1500" dirty="0"/>
          </a:p>
        </p:txBody>
      </p:sp>
      <p:sp>
        <p:nvSpPr>
          <p:cNvPr id="5" name="title-token-1"/>
          <p:cNvSpPr txBox="1"/>
          <p:nvPr/>
        </p:nvSpPr>
        <p:spPr>
          <a:xfrm>
            <a:off x="1600200" y="411480"/>
            <a:ext cx="960120" cy="411480"/>
          </a:xfrm>
          <a:prstGeom prst="roundRect">
            <a:avLst>
              <a:gd name="adj" fmla="val 26667"/>
            </a:avLst>
          </a:prstGeom>
          <a:solidFill>
            <a:schemeClr val="accent2"/>
          </a:solidFill>
          <a:ln/>
        </p:spPr>
        <p:txBody>
          <a:bodyPr wrap="square" lIns="0" tIns="0" rIns="0" bIns="0" rtlCol="0" anchor="ctr"/>
          <a:lstStyle/>
          <a:p>
            <a:pPr algn="ctr" indent="0" marL="0">
              <a:buNone/>
            </a:pPr>
            <a:r>
              <a:rPr lang="en-US" sz="1500" b="1" dirty="0">
                <a:solidFill>
                  <a:schemeClr val="bg1"/>
                </a:solidFill>
              </a:rPr>
              <a:t> York</a:t>
            </a:r>
            <a:endParaRPr lang="en-US" sz="1500" dirty="0"/>
          </a:p>
        </p:txBody>
      </p:sp>
      <p:sp>
        <p:nvSpPr>
          <p:cNvPr id="6" name="title-token-2"/>
          <p:cNvSpPr txBox="1"/>
          <p:nvPr/>
        </p:nvSpPr>
        <p:spPr>
          <a:xfrm>
            <a:off x="2651760" y="411480"/>
            <a:ext cx="960120" cy="411480"/>
          </a:xfrm>
          <a:prstGeom prst="roundRect">
            <a:avLst>
              <a:gd name="adj" fmla="val 26667"/>
            </a:avLst>
          </a:prstGeom>
          <a:solidFill>
            <a:schemeClr val="accent2"/>
          </a:solidFill>
          <a:ln/>
        </p:spPr>
        <p:txBody>
          <a:bodyPr wrap="square" lIns="0" tIns="0" rIns="0" bIns="0" rtlCol="0" anchor="ctr"/>
          <a:lstStyle/>
          <a:p>
            <a:pPr algn="ctr" indent="0" marL="0">
              <a:buNone/>
            </a:pPr>
            <a:r>
              <a:rPr lang="en-US" sz="1500" b="1" dirty="0">
                <a:solidFill>
                  <a:schemeClr val="bg1"/>
                </a:solidFill>
              </a:rPr>
              <a:t> City</a:t>
            </a:r>
            <a:endParaRPr lang="en-US" sz="1500" dirty="0"/>
          </a:p>
        </p:txBody>
      </p:sp>
      <p:sp>
        <p:nvSpPr>
          <p:cNvPr id="7" name="team"/>
          <p:cNvSpPr txBox="1"/>
          <p:nvPr/>
        </p:nvSpPr>
        <p:spPr>
          <a:xfrm>
            <a:off x="548640" y="3429000"/>
            <a:ext cx="5486400" cy="1097280"/>
          </a:xfrm>
          <a:prstGeom prst="rect">
            <a:avLst/>
          </a:prstGeom>
          <a:noFill/>
          <a:ln/>
        </p:spPr>
        <p:txBody>
          <a:bodyPr wrap="square" lIns="0" tIns="0" rIns="0" bIns="0" rtlCol="0" anchor="t"/>
          <a:lstStyle/>
          <a:p>
            <a:pPr indent="0" marL="0">
              <a:buNone/>
            </a:pPr>
            <a:r>
              <a:rPr lang="en-US" sz="1600" dirty="0">
                <a:solidFill>
                  <a:schemeClr val="bg1"/>
                </a:solidFill>
              </a:rPr>
              <a:t>T VamsiKrishna Yadav (25m2125)</a:t>
            </a:r>
            <a:endParaRPr lang="en-US" sz="1600" dirty="0"/>
          </a:p>
          <a:p>
            <a:pPr indent="0" marL="0">
              <a:buNone/>
            </a:pPr>
            <a:r>
              <a:rPr lang="en-US" sz="1600" dirty="0">
                <a:solidFill>
                  <a:schemeClr val="bg1"/>
                </a:solidFill>
              </a:rPr>
              <a:t>Kumar Rajnish (25m2123)</a:t>
            </a:r>
            <a:endParaRPr lang="en-US" sz="1600" dirty="0"/>
          </a:p>
          <a:p>
            <a:pPr indent="0" marL="0">
              <a:buNone/>
            </a:pPr>
            <a:r>
              <a:rPr lang="en-US" sz="1600" dirty="0">
                <a:solidFill>
                  <a:schemeClr val="bg1"/>
                </a:solidFill>
              </a:rPr>
              <a:t>Mentor: Karthika N. J.</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indent="0" marL="0">
              <a:buNone/>
            </a:pPr>
            <a:r>
              <a:rPr lang="en-US" sz="2800" b="1" dirty="0">
                <a:solidFill>
                  <a:schemeClr val="tx2"/>
                </a:solidFill>
              </a:rPr>
              <a:t>Problem: drafting decisions ignore language</a:t>
            </a:r>
            <a:endParaRPr lang="en-US" sz="2800" dirty="0"/>
          </a:p>
        </p:txBody>
      </p:sp>
      <p:sp>
        <p:nvSpPr>
          <p:cNvPr id="3" name="problem-points"/>
          <p:cNvSpPr txBox="1"/>
          <p:nvPr/>
        </p:nvSpPr>
        <p:spPr>
          <a:xfrm>
            <a:off x="457200" y="1005840"/>
            <a:ext cx="4206240" cy="2606040"/>
          </a:xfrm>
          <a:prstGeom prst="rect">
            <a:avLst/>
          </a:prstGeom>
          <a:noFill/>
          <a:ln/>
        </p:spPr>
        <p:txBody>
          <a:bodyPr wrap="square" lIns="0" tIns="0" rIns="0" bIns="0" rtlCol="0" anchor="t"/>
          <a:lstStyle/>
          <a:p>
            <a:pPr indent="0" marL="0">
              <a:buNone/>
            </a:pPr>
            <a:r>
              <a:rPr lang="en-US" sz="1400" b="1" dirty="0">
                <a:solidFill>
                  <a:schemeClr val="tx2"/>
                </a:solidFill>
              </a:rPr>
              <a:t>LLMs write one token per forward pass</a:t>
            </a:r>
            <a:endParaRPr lang="en-US" sz="1400" dirty="0"/>
          </a:p>
          <a:p>
            <a:pPr indent="0" marL="0">
              <a:buNone/>
            </a:pPr>
            <a:r>
              <a:rPr lang="en-US" sz="1400" dirty="0">
                <a:solidFill>
                  <a:schemeClr val="tx1"/>
                </a:solidFill>
              </a:rPr>
              <a:t>Each pass re-reads all model weights from memory, so generation is slow.</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tx2"/>
                </a:solidFill>
              </a:rPr>
              <a:t>Checking 5 tokens costs about the same as writing 1</a:t>
            </a:r>
            <a:endParaRPr lang="en-US" sz="1400" dirty="0"/>
          </a:p>
          <a:p>
            <a:pPr indent="0" marL="0">
              <a:buNone/>
            </a:pPr>
            <a:r>
              <a:rPr lang="en-US" sz="1400" dirty="0">
                <a:solidFill>
                  <a:schemeClr val="tx1"/>
                </a:solidFill>
              </a:rPr>
              <a:t>Speculative decoding: a small model drafts ahead, the big model verifies all drafts in one pass.</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tx2"/>
                </a:solidFill>
              </a:rPr>
              <a:t>Where a draft stops is blind to language</a:t>
            </a:r>
            <a:endParaRPr lang="en-US" sz="1400" dirty="0"/>
          </a:p>
          <a:p>
            <a:pPr indent="0" marL="0">
              <a:buNone/>
            </a:pPr>
            <a:r>
              <a:rPr lang="en-US" sz="1400" dirty="0">
                <a:solidFill>
                  <a:schemeClr val="tx1"/>
                </a:solidFill>
              </a:rPr>
              <a:t>Today it is a fixed count k or a confidence score.</a:t>
            </a:r>
            <a:endParaRPr lang="en-US" sz="1400" dirty="0"/>
          </a:p>
        </p:txBody>
      </p:sp>
      <p:sp>
        <p:nvSpPr>
          <p:cNvPr id="4" name="question-card"/>
          <p:cNvSpPr/>
          <p:nvPr/>
        </p:nvSpPr>
        <p:spPr>
          <a:xfrm>
            <a:off x="457200" y="3749040"/>
            <a:ext cx="4206240" cy="868680"/>
          </a:xfrm>
          <a:prstGeom prst="roundRect">
            <a:avLst>
              <a:gd name="adj" fmla="val 8421"/>
            </a:avLst>
          </a:prstGeom>
          <a:solidFill>
            <a:schemeClr val="tx2"/>
          </a:solidFill>
          <a:ln/>
        </p:spPr>
      </p:sp>
      <p:sp>
        <p:nvSpPr>
          <p:cNvPr id="5" name="question-text"/>
          <p:cNvSpPr txBox="1"/>
          <p:nvPr/>
        </p:nvSpPr>
        <p:spPr>
          <a:xfrm>
            <a:off x="594360" y="3794760"/>
            <a:ext cx="3931920" cy="777240"/>
          </a:xfrm>
          <a:prstGeom prst="rect">
            <a:avLst/>
          </a:prstGeom>
          <a:noFill/>
          <a:ln/>
        </p:spPr>
        <p:txBody>
          <a:bodyPr wrap="square" lIns="0" tIns="0" rIns="0" bIns="0" rtlCol="0" anchor="ctr"/>
          <a:lstStyle/>
          <a:p>
            <a:pPr indent="0" marL="0">
              <a:buNone/>
            </a:pPr>
            <a:r>
              <a:rPr lang="en-US" sz="1400" b="1" dirty="0">
                <a:solidFill>
                  <a:schemeClr val="accent1"/>
                </a:solidFill>
              </a:rPr>
              <a:t>Our question: </a:t>
            </a:r>
            <a:pPr indent="0" marL="0">
              <a:buNone/>
            </a:pPr>
            <a:r>
              <a:rPr lang="en-US" sz="1400" dirty="0">
                <a:solidFill>
                  <a:schemeClr val="bg1"/>
                </a:solidFill>
              </a:rPr>
              <a:t>do linguistic units (words, chunks, entities) make better decisions about where to stop drafting and what to accept?</a:t>
            </a:r>
            <a:endParaRPr lang="en-US" sz="1400" dirty="0"/>
          </a:p>
        </p:txBody>
      </p:sp>
      <p:sp>
        <p:nvSpPr>
          <p:cNvPr id="6" name="token-panel"/>
          <p:cNvSpPr/>
          <p:nvPr/>
        </p:nvSpPr>
        <p:spPr>
          <a:xfrm>
            <a:off x="4937760" y="1005840"/>
            <a:ext cx="3749040" cy="3611880"/>
          </a:xfrm>
          <a:prstGeom prst="roundRect">
            <a:avLst>
              <a:gd name="adj" fmla="val 2025"/>
            </a:avLst>
          </a:prstGeom>
          <a:solidFill>
            <a:schemeClr val="bg2"/>
          </a:solidFill>
          <a:ln/>
        </p:spPr>
      </p:sp>
      <p:sp>
        <p:nvSpPr>
          <p:cNvPr id="7" name="panel-head"/>
          <p:cNvSpPr txBox="1"/>
          <p:nvPr/>
        </p:nvSpPr>
        <p:spPr>
          <a:xfrm>
            <a:off x="5120640" y="1143000"/>
            <a:ext cx="3383280" cy="365760"/>
          </a:xfrm>
          <a:prstGeom prst="rect">
            <a:avLst/>
          </a:prstGeom>
          <a:noFill/>
          <a:ln/>
        </p:spPr>
        <p:txBody>
          <a:bodyPr wrap="square" lIns="0" tIns="0" rIns="0" bIns="0" rtlCol="0" anchor="ctr"/>
          <a:lstStyle/>
          <a:p>
            <a:pPr indent="0" marL="0">
              <a:buNone/>
            </a:pPr>
            <a:r>
              <a:rPr lang="en-US" sz="1600" b="1" dirty="0">
                <a:solidFill>
                  <a:schemeClr val="tx2"/>
                </a:solidFill>
              </a:rPr>
              <a:t>Language has multi-token units</a:t>
            </a:r>
            <a:endParaRPr lang="en-US" sz="1600" dirty="0"/>
          </a:p>
        </p:txBody>
      </p:sp>
      <p:sp>
        <p:nvSpPr>
          <p:cNvPr id="8" name="tok-0-0"/>
          <p:cNvSpPr txBox="1"/>
          <p:nvPr/>
        </p:nvSpPr>
        <p:spPr>
          <a:xfrm>
            <a:off x="5120640" y="1828800"/>
            <a:ext cx="1005840" cy="457200"/>
          </a:xfrm>
          <a:prstGeom prst="roundRect">
            <a:avLst>
              <a:gd name="adj" fmla="val 24000"/>
            </a:avLst>
          </a:prstGeom>
          <a:solidFill>
            <a:schemeClr val="accent1"/>
          </a:solidFill>
          <a:ln/>
        </p:spPr>
        <p:txBody>
          <a:bodyPr wrap="square" lIns="0" tIns="0" rIns="0" bIns="0" rtlCol="0" anchor="ctr"/>
          <a:lstStyle/>
          <a:p>
            <a:pPr algn="ctr" indent="0" marL="0">
              <a:buNone/>
            </a:pPr>
            <a:r>
              <a:rPr lang="en-US" sz="1600" b="1" dirty="0">
                <a:solidFill>
                  <a:schemeClr val="tx2"/>
                </a:solidFill>
              </a:rPr>
              <a:t>New</a:t>
            </a:r>
            <a:endParaRPr lang="en-US" sz="1600" dirty="0"/>
          </a:p>
        </p:txBody>
      </p:sp>
      <p:sp>
        <p:nvSpPr>
          <p:cNvPr id="9" name="tok-0-1"/>
          <p:cNvSpPr txBox="1"/>
          <p:nvPr/>
        </p:nvSpPr>
        <p:spPr>
          <a:xfrm>
            <a:off x="6217920" y="1828800"/>
            <a:ext cx="1005840" cy="457200"/>
          </a:xfrm>
          <a:prstGeom prst="roundRect">
            <a:avLst>
              <a:gd name="adj" fmla="val 24000"/>
            </a:avLst>
          </a:prstGeom>
          <a:solidFill>
            <a:schemeClr val="accent2"/>
          </a:solidFill>
          <a:ln/>
        </p:spPr>
        <p:txBody>
          <a:bodyPr wrap="square" lIns="0" tIns="0" rIns="0" bIns="0" rtlCol="0" anchor="ctr"/>
          <a:lstStyle/>
          <a:p>
            <a:pPr algn="ctr" indent="0" marL="0">
              <a:buNone/>
            </a:pPr>
            <a:r>
              <a:rPr lang="en-US" sz="1600" b="1" dirty="0">
                <a:solidFill>
                  <a:schemeClr val="bg1"/>
                </a:solidFill>
              </a:rPr>
              <a:t> York</a:t>
            </a:r>
            <a:endParaRPr lang="en-US" sz="1600" dirty="0"/>
          </a:p>
        </p:txBody>
      </p:sp>
      <p:sp>
        <p:nvSpPr>
          <p:cNvPr id="10" name="tok-0-2"/>
          <p:cNvSpPr txBox="1"/>
          <p:nvPr/>
        </p:nvSpPr>
        <p:spPr>
          <a:xfrm>
            <a:off x="7315200" y="1828800"/>
            <a:ext cx="1005840" cy="457200"/>
          </a:xfrm>
          <a:prstGeom prst="roundRect">
            <a:avLst>
              <a:gd name="adj" fmla="val 24000"/>
            </a:avLst>
          </a:prstGeom>
          <a:solidFill>
            <a:schemeClr val="accent2"/>
          </a:solidFill>
          <a:ln/>
        </p:spPr>
        <p:txBody>
          <a:bodyPr wrap="square" lIns="0" tIns="0" rIns="0" bIns="0" rtlCol="0" anchor="ctr"/>
          <a:lstStyle/>
          <a:p>
            <a:pPr algn="ctr" indent="0" marL="0">
              <a:buNone/>
            </a:pPr>
            <a:r>
              <a:rPr lang="en-US" sz="1600" b="1" dirty="0">
                <a:solidFill>
                  <a:schemeClr val="bg1"/>
                </a:solidFill>
              </a:rPr>
              <a:t> City</a:t>
            </a:r>
            <a:endParaRPr lang="en-US" sz="1600" dirty="0"/>
          </a:p>
        </p:txBody>
      </p:sp>
      <p:sp>
        <p:nvSpPr>
          <p:cNvPr id="11" name="tok-1-0"/>
          <p:cNvSpPr txBox="1"/>
          <p:nvPr/>
        </p:nvSpPr>
        <p:spPr>
          <a:xfrm>
            <a:off x="5120640" y="2743200"/>
            <a:ext cx="1005840" cy="457200"/>
          </a:xfrm>
          <a:prstGeom prst="roundRect">
            <a:avLst>
              <a:gd name="adj" fmla="val 24000"/>
            </a:avLst>
          </a:prstGeom>
          <a:solidFill>
            <a:schemeClr val="accent1"/>
          </a:solidFill>
          <a:ln/>
        </p:spPr>
        <p:txBody>
          <a:bodyPr wrap="square" lIns="0" tIns="0" rIns="0" bIns="0" rtlCol="0" anchor="ctr"/>
          <a:lstStyle/>
          <a:p>
            <a:pPr algn="ctr" indent="0" marL="0">
              <a:buNone/>
            </a:pPr>
            <a:r>
              <a:rPr lang="en-US" sz="1600" b="1" dirty="0">
                <a:solidFill>
                  <a:schemeClr val="tx2"/>
                </a:solidFill>
              </a:rPr>
              <a:t>kick</a:t>
            </a:r>
            <a:endParaRPr lang="en-US" sz="1600" dirty="0"/>
          </a:p>
        </p:txBody>
      </p:sp>
      <p:sp>
        <p:nvSpPr>
          <p:cNvPr id="12" name="tok-1-1"/>
          <p:cNvSpPr txBox="1"/>
          <p:nvPr/>
        </p:nvSpPr>
        <p:spPr>
          <a:xfrm>
            <a:off x="6217920" y="2743200"/>
            <a:ext cx="1005840" cy="457200"/>
          </a:xfrm>
          <a:prstGeom prst="roundRect">
            <a:avLst>
              <a:gd name="adj" fmla="val 24000"/>
            </a:avLst>
          </a:prstGeom>
          <a:solidFill>
            <a:schemeClr val="accent2"/>
          </a:solidFill>
          <a:ln/>
        </p:spPr>
        <p:txBody>
          <a:bodyPr wrap="square" lIns="0" tIns="0" rIns="0" bIns="0" rtlCol="0" anchor="ctr"/>
          <a:lstStyle/>
          <a:p>
            <a:pPr algn="ctr" indent="0" marL="0">
              <a:buNone/>
            </a:pPr>
            <a:r>
              <a:rPr lang="en-US" sz="1600" b="1" dirty="0">
                <a:solidFill>
                  <a:schemeClr val="bg1"/>
                </a:solidFill>
              </a:rPr>
              <a:t> the</a:t>
            </a:r>
            <a:endParaRPr lang="en-US" sz="1600" dirty="0"/>
          </a:p>
        </p:txBody>
      </p:sp>
      <p:sp>
        <p:nvSpPr>
          <p:cNvPr id="13" name="tok-1-2"/>
          <p:cNvSpPr txBox="1"/>
          <p:nvPr/>
        </p:nvSpPr>
        <p:spPr>
          <a:xfrm>
            <a:off x="7315200" y="2743200"/>
            <a:ext cx="1005840" cy="457200"/>
          </a:xfrm>
          <a:prstGeom prst="roundRect">
            <a:avLst>
              <a:gd name="adj" fmla="val 24000"/>
            </a:avLst>
          </a:prstGeom>
          <a:solidFill>
            <a:schemeClr val="accent2"/>
          </a:solidFill>
          <a:ln/>
        </p:spPr>
        <p:txBody>
          <a:bodyPr wrap="square" lIns="0" tIns="0" rIns="0" bIns="0" rtlCol="0" anchor="ctr"/>
          <a:lstStyle/>
          <a:p>
            <a:pPr algn="ctr" indent="0" marL="0">
              <a:buNone/>
            </a:pPr>
            <a:r>
              <a:rPr lang="en-US" sz="1600" b="1" dirty="0">
                <a:solidFill>
                  <a:schemeClr val="bg1"/>
                </a:solidFill>
              </a:rPr>
              <a:t> bucket</a:t>
            </a:r>
            <a:endParaRPr lang="en-US" sz="1600" dirty="0"/>
          </a:p>
        </p:txBody>
      </p:sp>
      <p:sp>
        <p:nvSpPr>
          <p:cNvPr id="14" name="lbl-hard"/>
          <p:cNvSpPr txBox="1"/>
          <p:nvPr/>
        </p:nvSpPr>
        <p:spPr>
          <a:xfrm>
            <a:off x="5120640" y="2331720"/>
            <a:ext cx="1097280" cy="274320"/>
          </a:xfrm>
          <a:prstGeom prst="rect">
            <a:avLst/>
          </a:prstGeom>
          <a:noFill/>
          <a:ln/>
        </p:spPr>
        <p:txBody>
          <a:bodyPr wrap="square" lIns="0" tIns="0" rIns="0" bIns="0" rtlCol="0" anchor="ctr"/>
          <a:lstStyle/>
          <a:p>
            <a:pPr indent="0" marL="0">
              <a:buNone/>
            </a:pPr>
            <a:r>
              <a:rPr lang="en-US" sz="1200" b="1" dirty="0">
                <a:solidFill>
                  <a:schemeClr val="accent4"/>
                </a:solidFill>
              </a:rPr>
              <a:t>hard to guess</a:t>
            </a:r>
            <a:endParaRPr lang="en-US" sz="1200" dirty="0"/>
          </a:p>
        </p:txBody>
      </p:sp>
      <p:sp>
        <p:nvSpPr>
          <p:cNvPr id="15" name="lbl-easy"/>
          <p:cNvSpPr txBox="1"/>
          <p:nvPr/>
        </p:nvSpPr>
        <p:spPr>
          <a:xfrm>
            <a:off x="6217920" y="2331720"/>
            <a:ext cx="2194560" cy="274320"/>
          </a:xfrm>
          <a:prstGeom prst="rect">
            <a:avLst/>
          </a:prstGeom>
          <a:noFill/>
          <a:ln/>
        </p:spPr>
        <p:txBody>
          <a:bodyPr wrap="square" lIns="0" tIns="0" rIns="0" bIns="0" rtlCol="0" anchor="ctr"/>
          <a:lstStyle/>
          <a:p>
            <a:pPr indent="0" marL="0">
              <a:buNone/>
            </a:pPr>
            <a:r>
              <a:rPr lang="en-US" sz="1200" b="1" dirty="0">
                <a:solidFill>
                  <a:schemeClr val="accent2"/>
                </a:solidFill>
              </a:rPr>
              <a:t>nearly free once started</a:t>
            </a:r>
            <a:endParaRPr lang="en-US" sz="1200" dirty="0"/>
          </a:p>
        </p:txBody>
      </p:sp>
      <p:sp>
        <p:nvSpPr>
          <p:cNvPr id="16" name="panel-caption"/>
          <p:cNvSpPr txBox="1"/>
          <p:nvPr/>
        </p:nvSpPr>
        <p:spPr>
          <a:xfrm>
            <a:off x="5120640" y="3429000"/>
            <a:ext cx="3383280" cy="1005840"/>
          </a:xfrm>
          <a:prstGeom prst="rect">
            <a:avLst/>
          </a:prstGeom>
          <a:noFill/>
          <a:ln/>
        </p:spPr>
        <p:txBody>
          <a:bodyPr wrap="square" lIns="0" tIns="0" rIns="0" bIns="0" rtlCol="0" anchor="t"/>
          <a:lstStyle/>
          <a:p>
            <a:pPr indent="0" marL="0">
              <a:buNone/>
            </a:pPr>
            <a:r>
              <a:rPr lang="en-US" sz="1400" i="1" dirty="0">
                <a:solidFill>
                  <a:schemeClr val="tx1"/>
                </a:solidFill>
              </a:rPr>
              <a:t>Uncertainty spikes at the start of a unit and collapses inside it, so unit boundaries are natural places to stop a draft.</a:t>
            </a:r>
            <a:endParaRPr lang="en-US" sz="14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indent="0" marL="0">
              <a:buNone/>
            </a:pPr>
            <a:r>
              <a:rPr lang="en-US" sz="2800" b="1" dirty="0">
                <a:solidFill>
                  <a:schemeClr val="tx2"/>
                </a:solidFill>
              </a:rPr>
              <a:t>Related work: all decide by count or confidence</a:t>
            </a:r>
            <a:endParaRPr lang="en-US" sz="2800" dirty="0"/>
          </a:p>
        </p:txBody>
      </p:sp>
      <p:sp>
        <p:nvSpPr>
          <p:cNvPr id="3" name="paper-card-0"/>
          <p:cNvSpPr/>
          <p:nvPr/>
        </p:nvSpPr>
        <p:spPr>
          <a:xfrm>
            <a:off x="457200" y="1005840"/>
            <a:ext cx="2651760" cy="2560320"/>
          </a:xfrm>
          <a:prstGeom prst="roundRect">
            <a:avLst>
              <a:gd name="adj" fmla="val 2857"/>
            </a:avLst>
          </a:prstGeom>
          <a:solidFill>
            <a:schemeClr val="bg2"/>
          </a:solidFill>
          <a:ln/>
        </p:spPr>
      </p:sp>
      <p:sp>
        <p:nvSpPr>
          <p:cNvPr id="4" name="paper-text-0"/>
          <p:cNvSpPr txBox="1"/>
          <p:nvPr/>
        </p:nvSpPr>
        <p:spPr>
          <a:xfrm>
            <a:off x="594360" y="1097280"/>
            <a:ext cx="2377440" cy="1783080"/>
          </a:xfrm>
          <a:prstGeom prst="rect">
            <a:avLst/>
          </a:prstGeom>
          <a:noFill/>
          <a:ln/>
        </p:spPr>
        <p:txBody>
          <a:bodyPr wrap="square" lIns="0" tIns="0" rIns="0" bIns="0" rtlCol="0" anchor="t"/>
          <a:lstStyle/>
          <a:p>
            <a:pPr indent="0" marL="0">
              <a:buNone/>
            </a:pPr>
            <a:r>
              <a:rPr lang="en-US" sz="1600" b="1" dirty="0">
                <a:solidFill>
                  <a:schemeClr val="tx2"/>
                </a:solidFill>
              </a:rPr>
              <a:t>Speculative Decoding</a:t>
            </a:r>
            <a:endParaRPr lang="en-US" sz="1600" dirty="0"/>
          </a:p>
          <a:p>
            <a:pPr indent="0" marL="0">
              <a:buNone/>
            </a:pPr>
            <a:r>
              <a:rPr lang="en-US" sz="1100" dirty="0">
                <a:solidFill>
                  <a:schemeClr val="accent5"/>
                </a:solidFill>
              </a:rPr>
              <a:t>Leviathan et al., 2023 (Google)</a:t>
            </a:r>
            <a:endParaRPr lang="en-US" sz="1600" dirty="0"/>
          </a:p>
          <a:p>
            <a:pPr indent="0" marL="0">
              <a:buNone/>
            </a:pPr>
            <a:r>
              <a:rPr lang="en-US" sz="600" dirty="0">
                <a:solidFill>
                  <a:srgbClr val="000000"/>
                </a:solidFill>
              </a:rPr>
              <a:t> </a:t>
            </a:r>
            <a:endParaRPr lang="en-US" sz="1600" dirty="0"/>
          </a:p>
          <a:p>
            <a:pPr indent="0" marL="0">
              <a:buNone/>
            </a:pPr>
            <a:r>
              <a:rPr lang="en-US" sz="1400" dirty="0">
                <a:solidFill>
                  <a:schemeClr val="tx1"/>
                </a:solidFill>
              </a:rPr>
              <a:t>Small model drafts, big model verifies. Output is identical to the big model's.</a:t>
            </a:r>
            <a:endParaRPr lang="en-US" sz="1600" dirty="0"/>
          </a:p>
        </p:txBody>
      </p:sp>
      <p:sp>
        <p:nvSpPr>
          <p:cNvPr id="5" name="paper-by-0"/>
          <p:cNvSpPr txBox="1"/>
          <p:nvPr/>
        </p:nvSpPr>
        <p:spPr>
          <a:xfrm>
            <a:off x="594360" y="2852928"/>
            <a:ext cx="2377440" cy="228600"/>
          </a:xfrm>
          <a:prstGeom prst="rect">
            <a:avLst/>
          </a:prstGeom>
          <a:noFill/>
          <a:ln/>
        </p:spPr>
        <p:txBody>
          <a:bodyPr wrap="square" lIns="0" tIns="0" rIns="0" bIns="0" rtlCol="0" anchor="ctr"/>
          <a:lstStyle/>
          <a:p>
            <a:pPr indent="0" marL="0">
              <a:buNone/>
            </a:pPr>
            <a:r>
              <a:rPr lang="en-US" sz="1100" dirty="0">
                <a:solidFill>
                  <a:schemeClr val="accent5"/>
                </a:solidFill>
              </a:rPr>
              <a:t>Decides by:</a:t>
            </a:r>
            <a:endParaRPr lang="en-US" sz="1100" dirty="0"/>
          </a:p>
        </p:txBody>
      </p:sp>
      <p:sp>
        <p:nvSpPr>
          <p:cNvPr id="6" name="paper-chip-0"/>
          <p:cNvSpPr txBox="1"/>
          <p:nvPr/>
        </p:nvSpPr>
        <p:spPr>
          <a:xfrm>
            <a:off x="594360" y="3090672"/>
            <a:ext cx="2377440" cy="365760"/>
          </a:xfrm>
          <a:prstGeom prst="roundRect">
            <a:avLst>
              <a:gd name="adj" fmla="val 30000"/>
            </a:avLst>
          </a:prstGeom>
          <a:solidFill>
            <a:schemeClr val="accent3"/>
          </a:solidFill>
          <a:ln/>
        </p:spPr>
        <p:txBody>
          <a:bodyPr wrap="square" lIns="0" tIns="0" rIns="0" bIns="0" rtlCol="0" anchor="ctr"/>
          <a:lstStyle/>
          <a:p>
            <a:pPr algn="ctr" indent="0" marL="0">
              <a:buNone/>
            </a:pPr>
            <a:r>
              <a:rPr lang="en-US" sz="1300" b="1" dirty="0">
                <a:solidFill>
                  <a:schemeClr val="bg1"/>
                </a:solidFill>
              </a:rPr>
              <a:t>Fixed draft length γ</a:t>
            </a:r>
            <a:endParaRPr lang="en-US" sz="1300" dirty="0"/>
          </a:p>
        </p:txBody>
      </p:sp>
      <p:sp>
        <p:nvSpPr>
          <p:cNvPr id="7" name="paper-card-1"/>
          <p:cNvSpPr/>
          <p:nvPr/>
        </p:nvSpPr>
        <p:spPr>
          <a:xfrm>
            <a:off x="3291840" y="1005840"/>
            <a:ext cx="2651760" cy="2560320"/>
          </a:xfrm>
          <a:prstGeom prst="roundRect">
            <a:avLst>
              <a:gd name="adj" fmla="val 2857"/>
            </a:avLst>
          </a:prstGeom>
          <a:solidFill>
            <a:schemeClr val="bg2"/>
          </a:solidFill>
          <a:ln/>
        </p:spPr>
      </p:sp>
      <p:sp>
        <p:nvSpPr>
          <p:cNvPr id="8" name="paper-text-1"/>
          <p:cNvSpPr txBox="1"/>
          <p:nvPr/>
        </p:nvSpPr>
        <p:spPr>
          <a:xfrm>
            <a:off x="3429000" y="1097280"/>
            <a:ext cx="2377440" cy="1783080"/>
          </a:xfrm>
          <a:prstGeom prst="rect">
            <a:avLst/>
          </a:prstGeom>
          <a:noFill/>
          <a:ln/>
        </p:spPr>
        <p:txBody>
          <a:bodyPr wrap="square" lIns="0" tIns="0" rIns="0" bIns="0" rtlCol="0" anchor="t"/>
          <a:lstStyle/>
          <a:p>
            <a:pPr indent="0" marL="0">
              <a:buNone/>
            </a:pPr>
            <a:r>
              <a:rPr lang="en-US" sz="1600" b="1" dirty="0">
                <a:solidFill>
                  <a:schemeClr val="tx2"/>
                </a:solidFill>
              </a:rPr>
              <a:t>Multi-Token Prediction</a:t>
            </a:r>
            <a:endParaRPr lang="en-US" sz="1600" dirty="0"/>
          </a:p>
          <a:p>
            <a:pPr indent="0" marL="0">
              <a:buNone/>
            </a:pPr>
            <a:r>
              <a:rPr lang="en-US" sz="1100" dirty="0">
                <a:solidFill>
                  <a:schemeClr val="accent5"/>
                </a:solidFill>
              </a:rPr>
              <a:t>Gloeckle et al., 2024 (Meta)</a:t>
            </a:r>
            <a:endParaRPr lang="en-US" sz="1600" dirty="0"/>
          </a:p>
          <a:p>
            <a:pPr indent="0" marL="0">
              <a:buNone/>
            </a:pPr>
            <a:r>
              <a:rPr lang="en-US" sz="600" dirty="0">
                <a:solidFill>
                  <a:srgbClr val="000000"/>
                </a:solidFill>
              </a:rPr>
              <a:t> </a:t>
            </a:r>
            <a:endParaRPr lang="en-US" sz="1600" dirty="0"/>
          </a:p>
          <a:p>
            <a:pPr indent="0" marL="0">
              <a:buNone/>
            </a:pPr>
            <a:r>
              <a:rPr lang="en-US" sz="1400" dirty="0">
                <a:solidFill>
                  <a:schemeClr val="tx1"/>
                </a:solidFill>
              </a:rPr>
              <a:t>Extra prediction heads trained into one model to predict several tokens at once.</a:t>
            </a:r>
            <a:endParaRPr lang="en-US" sz="1600" dirty="0"/>
          </a:p>
        </p:txBody>
      </p:sp>
      <p:sp>
        <p:nvSpPr>
          <p:cNvPr id="9" name="paper-by-1"/>
          <p:cNvSpPr txBox="1"/>
          <p:nvPr/>
        </p:nvSpPr>
        <p:spPr>
          <a:xfrm>
            <a:off x="3429000" y="2852928"/>
            <a:ext cx="2377440" cy="228600"/>
          </a:xfrm>
          <a:prstGeom prst="rect">
            <a:avLst/>
          </a:prstGeom>
          <a:noFill/>
          <a:ln/>
        </p:spPr>
        <p:txBody>
          <a:bodyPr wrap="square" lIns="0" tIns="0" rIns="0" bIns="0" rtlCol="0" anchor="ctr"/>
          <a:lstStyle/>
          <a:p>
            <a:pPr indent="0" marL="0">
              <a:buNone/>
            </a:pPr>
            <a:r>
              <a:rPr lang="en-US" sz="1100" dirty="0">
                <a:solidFill>
                  <a:schemeClr val="accent5"/>
                </a:solidFill>
              </a:rPr>
              <a:t>Decides by:</a:t>
            </a:r>
            <a:endParaRPr lang="en-US" sz="1100" dirty="0"/>
          </a:p>
        </p:txBody>
      </p:sp>
      <p:sp>
        <p:nvSpPr>
          <p:cNvPr id="10" name="paper-chip-1"/>
          <p:cNvSpPr txBox="1"/>
          <p:nvPr/>
        </p:nvSpPr>
        <p:spPr>
          <a:xfrm>
            <a:off x="3429000" y="3090672"/>
            <a:ext cx="2377440" cy="365760"/>
          </a:xfrm>
          <a:prstGeom prst="roundRect">
            <a:avLst>
              <a:gd name="adj" fmla="val 30000"/>
            </a:avLst>
          </a:prstGeom>
          <a:solidFill>
            <a:schemeClr val="accent3"/>
          </a:solidFill>
          <a:ln/>
        </p:spPr>
        <p:txBody>
          <a:bodyPr wrap="square" lIns="0" tIns="0" rIns="0" bIns="0" rtlCol="0" anchor="ctr"/>
          <a:lstStyle/>
          <a:p>
            <a:pPr algn="ctr" indent="0" marL="0">
              <a:buNone/>
            </a:pPr>
            <a:r>
              <a:rPr lang="en-US" sz="1300" b="1" dirty="0">
                <a:solidFill>
                  <a:schemeClr val="bg1"/>
                </a:solidFill>
              </a:rPr>
              <a:t>Fixed by number of heads</a:t>
            </a:r>
            <a:endParaRPr lang="en-US" sz="1300" dirty="0"/>
          </a:p>
        </p:txBody>
      </p:sp>
      <p:sp>
        <p:nvSpPr>
          <p:cNvPr id="11" name="paper-card-2"/>
          <p:cNvSpPr/>
          <p:nvPr/>
        </p:nvSpPr>
        <p:spPr>
          <a:xfrm>
            <a:off x="6126480" y="1005840"/>
            <a:ext cx="2651760" cy="2560320"/>
          </a:xfrm>
          <a:prstGeom prst="roundRect">
            <a:avLst>
              <a:gd name="adj" fmla="val 2857"/>
            </a:avLst>
          </a:prstGeom>
          <a:solidFill>
            <a:schemeClr val="bg2"/>
          </a:solidFill>
          <a:ln/>
        </p:spPr>
      </p:sp>
      <p:sp>
        <p:nvSpPr>
          <p:cNvPr id="12" name="paper-text-2"/>
          <p:cNvSpPr txBox="1"/>
          <p:nvPr/>
        </p:nvSpPr>
        <p:spPr>
          <a:xfrm>
            <a:off x="6263640" y="1097280"/>
            <a:ext cx="2377440" cy="1783080"/>
          </a:xfrm>
          <a:prstGeom prst="rect">
            <a:avLst/>
          </a:prstGeom>
          <a:noFill/>
          <a:ln/>
        </p:spPr>
        <p:txBody>
          <a:bodyPr wrap="square" lIns="0" tIns="0" rIns="0" bIns="0" rtlCol="0" anchor="t"/>
          <a:lstStyle/>
          <a:p>
            <a:pPr indent="0" marL="0">
              <a:buNone/>
            </a:pPr>
            <a:r>
              <a:rPr lang="en-US" sz="1600" b="1" dirty="0">
                <a:solidFill>
                  <a:schemeClr val="tx2"/>
                </a:solidFill>
              </a:rPr>
              <a:t>Medusa</a:t>
            </a:r>
            <a:endParaRPr lang="en-US" sz="1600" dirty="0"/>
          </a:p>
          <a:p>
            <a:pPr indent="0" marL="0">
              <a:buNone/>
            </a:pPr>
            <a:r>
              <a:rPr lang="en-US" sz="1100" dirty="0">
                <a:solidFill>
                  <a:schemeClr val="accent5"/>
                </a:solidFill>
              </a:rPr>
              <a:t>Cai et al., 2024</a:t>
            </a:r>
            <a:endParaRPr lang="en-US" sz="1600" dirty="0"/>
          </a:p>
          <a:p>
            <a:pPr indent="0" marL="0">
              <a:buNone/>
            </a:pPr>
            <a:r>
              <a:rPr lang="en-US" sz="600" dirty="0">
                <a:solidFill>
                  <a:srgbClr val="000000"/>
                </a:solidFill>
              </a:rPr>
              <a:t> </a:t>
            </a:r>
            <a:endParaRPr lang="en-US" sz="1600" dirty="0"/>
          </a:p>
          <a:p>
            <a:pPr indent="0" marL="0">
              <a:buNone/>
            </a:pPr>
            <a:r>
              <a:rPr lang="en-US" sz="1400" dirty="0">
                <a:solidFill>
                  <a:schemeClr val="tx1"/>
                </a:solidFill>
              </a:rPr>
              <a:t>Multiple heads plus "typical acceptance": accept tokens the big model finds probable enough.</a:t>
            </a:r>
            <a:endParaRPr lang="en-US" sz="1600" dirty="0"/>
          </a:p>
        </p:txBody>
      </p:sp>
      <p:sp>
        <p:nvSpPr>
          <p:cNvPr id="13" name="paper-by-2"/>
          <p:cNvSpPr txBox="1"/>
          <p:nvPr/>
        </p:nvSpPr>
        <p:spPr>
          <a:xfrm>
            <a:off x="6263640" y="2852928"/>
            <a:ext cx="2377440" cy="228600"/>
          </a:xfrm>
          <a:prstGeom prst="rect">
            <a:avLst/>
          </a:prstGeom>
          <a:noFill/>
          <a:ln/>
        </p:spPr>
        <p:txBody>
          <a:bodyPr wrap="square" lIns="0" tIns="0" rIns="0" bIns="0" rtlCol="0" anchor="ctr"/>
          <a:lstStyle/>
          <a:p>
            <a:pPr indent="0" marL="0">
              <a:buNone/>
            </a:pPr>
            <a:r>
              <a:rPr lang="en-US" sz="1100" dirty="0">
                <a:solidFill>
                  <a:schemeClr val="accent5"/>
                </a:solidFill>
              </a:rPr>
              <a:t>Decides by:</a:t>
            </a:r>
            <a:endParaRPr lang="en-US" sz="1100" dirty="0"/>
          </a:p>
        </p:txBody>
      </p:sp>
      <p:sp>
        <p:nvSpPr>
          <p:cNvPr id="14" name="paper-chip-2"/>
          <p:cNvSpPr txBox="1"/>
          <p:nvPr/>
        </p:nvSpPr>
        <p:spPr>
          <a:xfrm>
            <a:off x="6263640" y="3090672"/>
            <a:ext cx="2377440" cy="365760"/>
          </a:xfrm>
          <a:prstGeom prst="roundRect">
            <a:avLst>
              <a:gd name="adj" fmla="val 30000"/>
            </a:avLst>
          </a:prstGeom>
          <a:solidFill>
            <a:schemeClr val="accent3"/>
          </a:solidFill>
          <a:ln/>
        </p:spPr>
        <p:txBody>
          <a:bodyPr wrap="square" lIns="0" tIns="0" rIns="0" bIns="0" rtlCol="0" anchor="ctr"/>
          <a:lstStyle/>
          <a:p>
            <a:pPr algn="ctr" indent="0" marL="0">
              <a:buNone/>
            </a:pPr>
            <a:r>
              <a:rPr lang="en-US" sz="1300" b="1" dirty="0">
                <a:solidFill>
                  <a:schemeClr val="bg1"/>
                </a:solidFill>
              </a:rPr>
              <a:t>Probability threshold</a:t>
            </a:r>
            <a:endParaRPr lang="en-US" sz="1300" dirty="0"/>
          </a:p>
        </p:txBody>
      </p:sp>
      <p:sp>
        <p:nvSpPr>
          <p:cNvPr id="15" name="difference-card"/>
          <p:cNvSpPr/>
          <p:nvPr/>
        </p:nvSpPr>
        <p:spPr>
          <a:xfrm>
            <a:off x="457200" y="3749040"/>
            <a:ext cx="8229600" cy="868680"/>
          </a:xfrm>
          <a:prstGeom prst="roundRect">
            <a:avLst>
              <a:gd name="adj" fmla="val 8421"/>
            </a:avLst>
          </a:prstGeom>
          <a:solidFill>
            <a:schemeClr val="tx2"/>
          </a:solidFill>
          <a:ln/>
        </p:spPr>
      </p:sp>
      <p:sp>
        <p:nvSpPr>
          <p:cNvPr id="16" name="difference-text"/>
          <p:cNvSpPr txBox="1"/>
          <p:nvPr/>
        </p:nvSpPr>
        <p:spPr>
          <a:xfrm>
            <a:off x="640080" y="3794760"/>
            <a:ext cx="7863840" cy="777240"/>
          </a:xfrm>
          <a:prstGeom prst="rect">
            <a:avLst/>
          </a:prstGeom>
          <a:noFill/>
          <a:ln/>
        </p:spPr>
        <p:txBody>
          <a:bodyPr wrap="square" lIns="0" tIns="0" rIns="0" bIns="0" rtlCol="0" anchor="ctr"/>
          <a:lstStyle/>
          <a:p>
            <a:pPr indent="0" marL="0">
              <a:buNone/>
            </a:pPr>
            <a:r>
              <a:rPr lang="en-US" sz="1400" b="1" dirty="0">
                <a:solidFill>
                  <a:schemeClr val="accent1"/>
                </a:solidFill>
              </a:rPr>
              <a:t>Our difference: </a:t>
            </a:r>
            <a:pPr indent="0" marL="0">
              <a:buNone/>
            </a:pPr>
            <a:r>
              <a:rPr lang="en-US" sz="1400" dirty="0">
                <a:solidFill>
                  <a:schemeClr val="bg1"/>
                </a:solidFill>
              </a:rPr>
              <a:t>linguistic units decide both where drafting stops and what verification accepts. Inference only, no training, so any drafter/target pair can be tested.</a:t>
            </a:r>
            <a:endParaRPr lang="en-US" sz="14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indent="0" marL="0">
              <a:buNone/>
            </a:pPr>
            <a:r>
              <a:rPr lang="en-US" sz="2800" b="1" dirty="0">
                <a:solidFill>
                  <a:schemeClr val="tx2"/>
                </a:solidFill>
              </a:rPr>
              <a:t>Approach: one loop, two places to intervene</a:t>
            </a:r>
            <a:endParaRPr lang="en-US" sz="2800" dirty="0"/>
          </a:p>
        </p:txBody>
      </p:sp>
      <p:sp>
        <p:nvSpPr>
          <p:cNvPr id="3" name="setup-card"/>
          <p:cNvSpPr/>
          <p:nvPr/>
        </p:nvSpPr>
        <p:spPr>
          <a:xfrm>
            <a:off x="457200" y="1005840"/>
            <a:ext cx="3291840" cy="3611880"/>
          </a:xfrm>
          <a:prstGeom prst="roundRect">
            <a:avLst>
              <a:gd name="adj" fmla="val 2222"/>
            </a:avLst>
          </a:prstGeom>
          <a:solidFill>
            <a:schemeClr val="bg2"/>
          </a:solidFill>
          <a:ln/>
        </p:spPr>
      </p:sp>
      <p:sp>
        <p:nvSpPr>
          <p:cNvPr id="4" name="setup-text"/>
          <p:cNvSpPr txBox="1"/>
          <p:nvPr/>
        </p:nvSpPr>
        <p:spPr>
          <a:xfrm>
            <a:off x="594360" y="1097280"/>
            <a:ext cx="3017520" cy="3429000"/>
          </a:xfrm>
          <a:prstGeom prst="rect">
            <a:avLst/>
          </a:prstGeom>
          <a:noFill/>
          <a:ln/>
        </p:spPr>
        <p:txBody>
          <a:bodyPr wrap="square" lIns="0" tIns="0" rIns="0" bIns="0" rtlCol="0" anchor="t"/>
          <a:lstStyle/>
          <a:p>
            <a:pPr indent="0" marL="0">
              <a:buNone/>
            </a:pPr>
            <a:r>
              <a:rPr lang="en-US" sz="1400" b="1" dirty="0">
                <a:solidFill>
                  <a:schemeClr val="tx2"/>
                </a:solidFill>
              </a:rPr>
              <a:t>Models (drafter → target)</a:t>
            </a:r>
            <a:endParaRPr lang="en-US" sz="1400" dirty="0"/>
          </a:p>
          <a:p>
            <a:pPr indent="0" marL="0">
              <a:buNone/>
            </a:pPr>
            <a:r>
              <a:rPr lang="en-US" sz="1400" dirty="0">
                <a:solidFill>
                  <a:schemeClr val="tx1"/>
                </a:solidFill>
              </a:rPr>
              <a:t>Llama-3.2-1B → Llama-3.1-8B</a:t>
            </a:r>
            <a:endParaRPr lang="en-US" sz="1400" dirty="0"/>
          </a:p>
          <a:p>
            <a:pPr indent="0" marL="0">
              <a:buNone/>
            </a:pPr>
            <a:r>
              <a:rPr lang="en-US" sz="1400" dirty="0">
                <a:solidFill>
                  <a:schemeClr val="tx1"/>
                </a:solidFill>
              </a:rPr>
              <a:t>Qwen2.5-0.5B → Qwen2.5-7B</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tx2"/>
                </a:solidFill>
              </a:rPr>
              <a:t>Benchmark</a:t>
            </a:r>
            <a:endParaRPr lang="en-US" sz="1400" dirty="0"/>
          </a:p>
          <a:p>
            <a:pPr indent="0" marL="0">
              <a:buNone/>
            </a:pPr>
            <a:r>
              <a:rPr lang="en-US" sz="1400" dirty="0">
                <a:solidFill>
                  <a:schemeClr val="tx1"/>
                </a:solidFill>
              </a:rPr>
              <a:t>Spec-Bench: chat, translation, summarization, QA, math, RAG</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tx2"/>
                </a:solidFill>
              </a:rPr>
              <a:t>Linguistic resources</a:t>
            </a:r>
            <a:endParaRPr lang="en-US" sz="1400" dirty="0"/>
          </a:p>
          <a:p>
            <a:pPr indent="0" marL="0">
              <a:buNone/>
            </a:pPr>
            <a:r>
              <a:rPr lang="en-US" sz="1400" dirty="0">
                <a:solidFill>
                  <a:schemeClr val="tx1"/>
                </a:solidFill>
              </a:rPr>
              <a:t>spaCy (chunks, entities), MAGPIE, PARSEME, STREUSLE (multi-word expressions)</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tx2"/>
                </a:solidFill>
              </a:rPr>
              <a:t>Midterm runs</a:t>
            </a:r>
            <a:endParaRPr lang="en-US" sz="1400" dirty="0"/>
          </a:p>
          <a:p>
            <a:pPr indent="0" marL="0">
              <a:buNone/>
            </a:pPr>
            <a:r>
              <a:rPr lang="en-US" sz="1400" dirty="0">
                <a:solidFill>
                  <a:schemeClr val="tx1"/>
                </a:solidFill>
              </a:rPr>
              <a:t>60 prompts (10 per task), 128 tokens each, one A40 GPU</a:t>
            </a:r>
            <a:endParaRPr lang="en-US" sz="1400" dirty="0"/>
          </a:p>
        </p:txBody>
      </p:sp>
      <p:graphicFrame>
        <p:nvGraphicFramePr>
          <p:cNvPr id="5" name="method-table"/>
          <p:cNvGraphicFramePr>
            <a:graphicFrameLocks noGrp="1"/>
          </p:cNvGraphicFramePr>
          <p:nvPr>
            <p:extLst>
              <p:ext uri="{D42A27DB-BD31-4B8C-83A1-F6EECF244321}">
                <p14:modId xmlns:p14="http://schemas.microsoft.com/office/powerpoint/2010/main" val="1579011935"/>
              </p:ext>
            </p:extLst>
          </p:nvPr>
        </p:nvGraphicFramePr>
        <p:xfrm>
          <a:off x="4023360" y="1005840"/>
          <a:ext cx="4663440" cy="914400"/>
        </p:xfrm>
        <a:graphic>
          <a:graphicData uri="http://schemas.openxmlformats.org/drawingml/2006/table">
            <a:tbl>
              <a:tblPr/>
              <a:tblGrid>
                <a:gridCol w="1325880"/>
                <a:gridCol w="1463040"/>
                <a:gridCol w="1874520"/>
              </a:tblGrid>
              <a:tr h="0">
                <a:tc>
                  <a:txBody>
                    <a:bodyPr/>
                    <a:lstStyle/>
                    <a:p>
                      <a:pPr indent="0" marL="0">
                        <a:buNone/>
                      </a:pPr>
                      <a:r>
                        <a:rPr lang="en-US" sz="1400" b="1" dirty="0">
                          <a:solidFill>
                            <a:schemeClr val="bg1"/>
                          </a:solidFill>
                        </a:rPr>
                        <a:t>Step</a:t>
                      </a:r>
                      <a:endParaRPr lang="en-US" sz="1400" dirty="0"/>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Baselines</a:t>
                      </a:r>
                      <a:endParaRPr lang="en-US" sz="1400" dirty="0"/>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Linguistic version</a:t>
                      </a:r>
                      <a:endParaRPr lang="en-US" sz="1400" dirty="0"/>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0">
                <a:tc>
                  <a:txBody>
                    <a:bodyPr/>
                    <a:lstStyle/>
                    <a:p>
                      <a:pPr indent="0" marL="0">
                        <a:buNone/>
                      </a:pPr>
                      <a:r>
                        <a:rPr lang="en-US" sz="1300" b="1" dirty="0">
                          <a:solidFill>
                            <a:schemeClr val="tx1"/>
                          </a:solidFill>
                        </a:rPr>
                        <a:t>Drafting</a:t>
                      </a:r>
                      <a:endParaRPr lang="en-US" sz="1300" dirty="0"/>
                    </a:p>
                    <a:p>
                      <a:pPr indent="0" marL="0">
                        <a:buNone/>
                      </a:pPr>
                      <a:r>
                        <a:rPr lang="en-US" sz="1300" b="1" dirty="0">
                          <a:solidFill>
                            <a:schemeClr val="tx1"/>
                          </a:solidFill>
                        </a:rPr>
                        <a:t>(when to stop guessing)</a:t>
                      </a:r>
                      <a:endParaRPr lang="en-US" sz="1300" dirty="0"/>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chemeClr val="tx1"/>
                          </a:solidFill>
                        </a:rPr>
                        <a:t>Fixed k; confidence threshold</a:t>
                      </a:r>
                      <a:endParaRPr lang="en-US" sz="1300" dirty="0"/>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chemeClr val="tx1"/>
                          </a:solidFill>
                        </a:rPr>
                        <a:t>Stop at word / chunk / entity boundary; confidence only at word starts</a:t>
                      </a:r>
                      <a:endParaRPr lang="en-US" sz="1300" dirty="0"/>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0">
                <a:tc>
                  <a:txBody>
                    <a:bodyPr/>
                    <a:lstStyle/>
                    <a:p>
                      <a:pPr indent="0" marL="0">
                        <a:buNone/>
                      </a:pPr>
                      <a:r>
                        <a:rPr lang="en-US" sz="1300" b="1" dirty="0">
                          <a:solidFill>
                            <a:schemeClr val="tx1"/>
                          </a:solidFill>
                        </a:rPr>
                        <a:t>Verification</a:t>
                      </a:r>
                      <a:endParaRPr lang="en-US" sz="1300" dirty="0"/>
                    </a:p>
                    <a:p>
                      <a:pPr indent="0" marL="0">
                        <a:buNone/>
                      </a:pPr>
                      <a:r>
                        <a:rPr lang="en-US" sz="1300" b="1" dirty="0">
                          <a:solidFill>
                            <a:schemeClr val="tx1"/>
                          </a:solidFill>
                        </a:rPr>
                        <a:t>(what to accept)</a:t>
                      </a:r>
                      <a:endParaRPr lang="en-US" sz="1300" dirty="0"/>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chemeClr val="tx1"/>
                          </a:solidFill>
                        </a:rPr>
                        <a:t>Exact match; rejection sampling; typical acceptance</a:t>
                      </a:r>
                      <a:endParaRPr lang="en-US" sz="1300" dirty="0"/>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indent="0" marL="0">
                        <a:buNone/>
                      </a:pPr>
                      <a:r>
                        <a:rPr lang="en-US" sz="1300" dirty="0">
                          <a:solidFill>
                            <a:schemeClr val="tx1"/>
                          </a:solidFill>
                        </a:rPr>
                        <a:t>Roll back to last complete unit; complete a started idiom or entity</a:t>
                      </a:r>
                      <a:endParaRPr lang="en-US" sz="1300" dirty="0"/>
                    </a:p>
                  </a:txBody>
                  <a:tcPr marL="54864" marR="54864"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6" name="key-property"/>
          <p:cNvSpPr txBox="1"/>
          <p:nvPr/>
        </p:nvSpPr>
        <p:spPr>
          <a:xfrm>
            <a:off x="4023360" y="3337560"/>
            <a:ext cx="4663440" cy="548640"/>
          </a:xfrm>
          <a:prstGeom prst="rect">
            <a:avLst/>
          </a:prstGeom>
          <a:noFill/>
          <a:ln/>
        </p:spPr>
        <p:txBody>
          <a:bodyPr wrap="square" lIns="0" tIns="0" rIns="0" bIns="0" rtlCol="0" anchor="t"/>
          <a:lstStyle/>
          <a:p>
            <a:pPr indent="0" marL="0">
              <a:buNone/>
            </a:pPr>
            <a:r>
              <a:rPr lang="en-US" sz="1400" b="1" dirty="0">
                <a:solidFill>
                  <a:schemeClr val="tx2"/>
                </a:solidFill>
              </a:rPr>
              <a:t>Key property: </a:t>
            </a:r>
            <a:pPr indent="0" marL="0">
              <a:buNone/>
            </a:pPr>
            <a:r>
              <a:rPr lang="en-US" sz="1400" dirty="0">
                <a:solidFill>
                  <a:schemeClr val="tx1"/>
                </a:solidFill>
              </a:rPr>
              <a:t>drafting rules change speed only, never the output. Only verification rules can change quality.</a:t>
            </a:r>
            <a:endParaRPr lang="en-US" sz="1400" dirty="0"/>
          </a:p>
        </p:txBody>
      </p:sp>
      <p:sp>
        <p:nvSpPr>
          <p:cNvPr id="7" name="metrics"/>
          <p:cNvSpPr txBox="1"/>
          <p:nvPr/>
        </p:nvSpPr>
        <p:spPr>
          <a:xfrm>
            <a:off x="4023360" y="3977640"/>
            <a:ext cx="4663440" cy="640080"/>
          </a:xfrm>
          <a:prstGeom prst="rect">
            <a:avLst/>
          </a:prstGeom>
          <a:noFill/>
          <a:ln/>
        </p:spPr>
        <p:txBody>
          <a:bodyPr wrap="square" lIns="0" tIns="0" rIns="0" bIns="0" rtlCol="0" anchor="t"/>
          <a:lstStyle/>
          <a:p>
            <a:pPr indent="0" marL="0">
              <a:buNone/>
            </a:pPr>
            <a:r>
              <a:rPr lang="en-US" sz="1400" b="1" dirty="0">
                <a:solidFill>
                  <a:schemeClr val="tx2"/>
                </a:solidFill>
              </a:rPr>
              <a:t>Metrics: </a:t>
            </a:r>
            <a:pPr indent="0" marL="0">
              <a:buNone/>
            </a:pPr>
            <a:r>
              <a:rPr lang="en-US" sz="1400" dirty="0">
                <a:solidFill>
                  <a:schemeClr val="tx1"/>
                </a:solidFill>
              </a:rPr>
              <a:t>MAT (tokens per big-model pass) · acceptance rate · speedup · mid-word split rate · quality for lossy rules</a:t>
            </a:r>
            <a:endParaRPr lang="en-US" sz="14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indent="0" marL="0">
              <a:buNone/>
            </a:pPr>
            <a:r>
              <a:rPr lang="en-US" sz="2800" b="1" dirty="0">
                <a:solidFill>
                  <a:schemeClr val="tx2"/>
                </a:solidFill>
              </a:rPr>
              <a:t>Progress: rejections cluster at word starts</a:t>
            </a:r>
            <a:endParaRPr lang="en-US" sz="2800" dirty="0"/>
          </a:p>
        </p:txBody>
      </p:sp>
      <p:sp>
        <p:nvSpPr>
          <p:cNvPr id="3" name="stat-card-0"/>
          <p:cNvSpPr/>
          <p:nvPr/>
        </p:nvSpPr>
        <p:spPr>
          <a:xfrm>
            <a:off x="457200" y="960120"/>
            <a:ext cx="2606040" cy="1051560"/>
          </a:xfrm>
          <a:prstGeom prst="roundRect">
            <a:avLst>
              <a:gd name="adj" fmla="val 6957"/>
            </a:avLst>
          </a:prstGeom>
          <a:solidFill>
            <a:schemeClr val="bg2"/>
          </a:solidFill>
          <a:ln/>
        </p:spPr>
      </p:sp>
      <p:sp>
        <p:nvSpPr>
          <p:cNvPr id="4" name="stat-big-0"/>
          <p:cNvSpPr txBox="1"/>
          <p:nvPr/>
        </p:nvSpPr>
        <p:spPr>
          <a:xfrm>
            <a:off x="594360" y="1005840"/>
            <a:ext cx="2331720" cy="5029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100%</a:t>
            </a:r>
            <a:endParaRPr lang="en-US" sz="2800" dirty="0"/>
          </a:p>
        </p:txBody>
      </p:sp>
      <p:sp>
        <p:nvSpPr>
          <p:cNvPr id="5" name="stat-small-0"/>
          <p:cNvSpPr txBox="1"/>
          <p:nvPr/>
        </p:nvSpPr>
        <p:spPr>
          <a:xfrm>
            <a:off x="594360" y="1481328"/>
            <a:ext cx="2331720" cy="502920"/>
          </a:xfrm>
          <a:prstGeom prst="rect">
            <a:avLst/>
          </a:prstGeom>
          <a:noFill/>
          <a:ln/>
        </p:spPr>
        <p:txBody>
          <a:bodyPr wrap="square" lIns="0" tIns="0" rIns="0" bIns="0" rtlCol="0" anchor="t"/>
          <a:lstStyle/>
          <a:p>
            <a:pPr indent="0" marL="0">
              <a:buNone/>
            </a:pPr>
            <a:r>
              <a:rPr lang="en-US" sz="1100" dirty="0">
                <a:solidFill>
                  <a:schemeClr val="tx1"/>
                </a:solidFill>
              </a:rPr>
              <a:t>match with plain decoding (fp32, 60 prompts): the loop is lossless</a:t>
            </a:r>
            <a:endParaRPr lang="en-US" sz="1100" dirty="0"/>
          </a:p>
        </p:txBody>
      </p:sp>
      <p:sp>
        <p:nvSpPr>
          <p:cNvPr id="6" name="stat-card-1"/>
          <p:cNvSpPr/>
          <p:nvPr/>
        </p:nvSpPr>
        <p:spPr>
          <a:xfrm>
            <a:off x="3246120" y="960120"/>
            <a:ext cx="2606040" cy="1051560"/>
          </a:xfrm>
          <a:prstGeom prst="roundRect">
            <a:avLst>
              <a:gd name="adj" fmla="val 6957"/>
            </a:avLst>
          </a:prstGeom>
          <a:solidFill>
            <a:schemeClr val="bg2"/>
          </a:solidFill>
          <a:ln/>
        </p:spPr>
      </p:sp>
      <p:sp>
        <p:nvSpPr>
          <p:cNvPr id="7" name="stat-big-1"/>
          <p:cNvSpPr txBox="1"/>
          <p:nvPr/>
        </p:nvSpPr>
        <p:spPr>
          <a:xfrm>
            <a:off x="3383280" y="1005840"/>
            <a:ext cx="2331720" cy="50292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1.4–1.9×</a:t>
            </a:r>
            <a:endParaRPr lang="en-US" sz="2800" dirty="0"/>
          </a:p>
        </p:txBody>
      </p:sp>
      <p:sp>
        <p:nvSpPr>
          <p:cNvPr id="8" name="stat-small-1"/>
          <p:cNvSpPr txBox="1"/>
          <p:nvPr/>
        </p:nvSpPr>
        <p:spPr>
          <a:xfrm>
            <a:off x="3383280" y="1481328"/>
            <a:ext cx="2331720" cy="502920"/>
          </a:xfrm>
          <a:prstGeom prst="rect">
            <a:avLst/>
          </a:prstGeom>
          <a:noFill/>
          <a:ln/>
        </p:spPr>
        <p:txBody>
          <a:bodyPr wrap="square" lIns="0" tIns="0" rIns="0" bIns="0" rtlCol="0" anchor="t"/>
          <a:lstStyle/>
          <a:p>
            <a:pPr indent="0" marL="0">
              <a:buNone/>
            </a:pPr>
            <a:r>
              <a:rPr lang="en-US" sz="1100" dirty="0">
                <a:solidFill>
                  <a:schemeClr val="tx1"/>
                </a:solidFill>
              </a:rPr>
              <a:t>more rejections at word starts than inside words (p &lt; 10⁻⁴)</a:t>
            </a:r>
            <a:endParaRPr lang="en-US" sz="1100" dirty="0"/>
          </a:p>
        </p:txBody>
      </p:sp>
      <p:sp>
        <p:nvSpPr>
          <p:cNvPr id="9" name="stat-card-2"/>
          <p:cNvSpPr/>
          <p:nvPr/>
        </p:nvSpPr>
        <p:spPr>
          <a:xfrm>
            <a:off x="6035040" y="960120"/>
            <a:ext cx="2606040" cy="1051560"/>
          </a:xfrm>
          <a:prstGeom prst="roundRect">
            <a:avLst>
              <a:gd name="adj" fmla="val 6957"/>
            </a:avLst>
          </a:prstGeom>
          <a:solidFill>
            <a:schemeClr val="bg2"/>
          </a:solidFill>
          <a:ln/>
        </p:spPr>
      </p:sp>
      <p:sp>
        <p:nvSpPr>
          <p:cNvPr id="10" name="stat-big-2"/>
          <p:cNvSpPr txBox="1"/>
          <p:nvPr/>
        </p:nvSpPr>
        <p:spPr>
          <a:xfrm>
            <a:off x="6172200" y="1005840"/>
            <a:ext cx="2331720" cy="5029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1.30×</a:t>
            </a:r>
            <a:endParaRPr lang="en-US" sz="2800" dirty="0"/>
          </a:p>
        </p:txBody>
      </p:sp>
      <p:sp>
        <p:nvSpPr>
          <p:cNvPr id="11" name="stat-small-2"/>
          <p:cNvSpPr txBox="1"/>
          <p:nvPr/>
        </p:nvSpPr>
        <p:spPr>
          <a:xfrm>
            <a:off x="6172200" y="1481328"/>
            <a:ext cx="2331720" cy="502920"/>
          </a:xfrm>
          <a:prstGeom prst="rect">
            <a:avLst/>
          </a:prstGeom>
          <a:noFill/>
          <a:ln/>
        </p:spPr>
        <p:txBody>
          <a:bodyPr wrap="square" lIns="0" tIns="0" rIns="0" bIns="0" rtlCol="0" anchor="t"/>
          <a:lstStyle/>
          <a:p>
            <a:pPr indent="0" marL="0">
              <a:buNone/>
            </a:pPr>
            <a:r>
              <a:rPr lang="en-US" sz="1100" dirty="0">
                <a:solidFill>
                  <a:schemeClr val="tx1"/>
                </a:solidFill>
              </a:rPr>
              <a:t>best wall-clock speedup (Llama, confidence-based drafting)</a:t>
            </a:r>
            <a:endParaRPr lang="en-US" sz="1100" dirty="0"/>
          </a:p>
        </p:txBody>
      </p:sp>
      <p:graphicFrame>
        <p:nvGraphicFramePr>
          <p:cNvPr id="12" name="reject-chart" descr=""/>
          <p:cNvGraphicFramePr/>
          <p:nvPr/>
        </p:nvGraphicFramePr>
        <p:xfrm>
          <a:off x="457200" y="2148840"/>
          <a:ext cx="4206240" cy="2514600"/>
        </p:xfrm>
        <a:graphic xmlns:a="http://schemas.openxmlformats.org/drawingml/2006/main">
          <a:graphicData uri="http://schemas.openxmlformats.org/drawingml/2006/chart">
            <c:chart xmlns:c="http://schemas.openxmlformats.org/drawingml/2006/chart" r:id="rId1"/>
          </a:graphicData>
        </a:graphic>
      </p:graphicFrame>
      <p:sp>
        <p:nvSpPr>
          <p:cNvPr id="13" name="gain-head"/>
          <p:cNvSpPr txBox="1"/>
          <p:nvPr/>
        </p:nvSpPr>
        <p:spPr>
          <a:xfrm>
            <a:off x="4937760" y="2148840"/>
            <a:ext cx="3749040" cy="274320"/>
          </a:xfrm>
          <a:prstGeom prst="rect">
            <a:avLst/>
          </a:prstGeom>
          <a:noFill/>
          <a:ln/>
        </p:spPr>
        <p:txBody>
          <a:bodyPr wrap="square" lIns="0" tIns="0" rIns="0" bIns="0" rtlCol="0" anchor="ctr"/>
          <a:lstStyle/>
          <a:p>
            <a:pPr indent="0" marL="0">
              <a:buNone/>
            </a:pPr>
            <a:r>
              <a:rPr lang="en-US" sz="1200" b="1" dirty="0">
                <a:solidFill>
                  <a:schemeClr val="tx2"/>
                </a:solidFill>
              </a:rPr>
              <a:t>MAT gain over a fixed window at equal draft length</a:t>
            </a:r>
            <a:endParaRPr lang="en-US" sz="1200" dirty="0"/>
          </a:p>
        </p:txBody>
      </p:sp>
      <p:graphicFrame>
        <p:nvGraphicFramePr>
          <p:cNvPr id="6" name="gain-table"/>
          <p:cNvGraphicFramePr>
            <a:graphicFrameLocks noGrp="1"/>
          </p:cNvGraphicFramePr>
          <p:nvPr>
            <p:extLst>
              <p:ext uri="{D42A27DB-BD31-4B8C-83A1-F6EECF244321}">
                <p14:modId xmlns:p14="http://schemas.microsoft.com/office/powerpoint/2010/main" val="1579011935"/>
              </p:ext>
            </p:extLst>
          </p:nvPr>
        </p:nvGraphicFramePr>
        <p:xfrm>
          <a:off x="4937760" y="2468880"/>
          <a:ext cx="3749040" cy="914400"/>
        </p:xfrm>
        <a:graphic>
          <a:graphicData uri="http://schemas.openxmlformats.org/drawingml/2006/table">
            <a:tbl>
              <a:tblPr/>
              <a:tblGrid>
                <a:gridCol w="2377440"/>
                <a:gridCol w="685800"/>
                <a:gridCol w="685800"/>
              </a:tblGrid>
              <a:tr h="0">
                <a:tc>
                  <a:txBody>
                    <a:bodyPr/>
                    <a:lstStyle/>
                    <a:p>
                      <a:pPr algn="l" indent="0" marL="0">
                        <a:buNone/>
                      </a:pPr>
                      <a:r>
                        <a:rPr lang="en-US" sz="1300" b="1" dirty="0">
                          <a:solidFill>
                            <a:schemeClr val="bg1"/>
                          </a:solidFill>
                        </a:rPr>
                        <a:t>Drafting policy</a:t>
                      </a:r>
                      <a:endParaRPr lang="en-US" sz="1300" dirty="0"/>
                    </a:p>
                  </a:txBody>
                  <a:tcPr marL="45720" marR="45720" marT="45720" marB="4572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Llama</a:t>
                      </a:r>
                      <a:endParaRPr lang="en-US" sz="1300" dirty="0"/>
                    </a:p>
                  </a:txBody>
                  <a:tcPr marL="45720" marR="45720" marT="45720" marB="4572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Qwen</a:t>
                      </a:r>
                      <a:endParaRPr lang="en-US" sz="1300" dirty="0"/>
                    </a:p>
                  </a:txBody>
                  <a:tcPr marL="45720" marR="45720" marT="45720" marB="4572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0">
                <a:tc>
                  <a:txBody>
                    <a:bodyPr/>
                    <a:lstStyle/>
                    <a:p>
                      <a:pPr algn="l" indent="0" marL="0">
                        <a:buNone/>
                      </a:pPr>
                      <a:r>
                        <a:rPr lang="en-US" sz="1200" dirty="0">
                          <a:solidFill>
                            <a:schemeClr val="tx1"/>
                          </a:solidFill>
                        </a:rPr>
                        <a:t>Word boundary (word:2)</a:t>
                      </a:r>
                      <a:endParaRPr lang="en-US" sz="1200" dirty="0"/>
                    </a:p>
                  </a:txBody>
                  <a:tcPr marL="45720" marR="45720" marT="45720" marB="4572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200" dirty="0">
                          <a:solidFill>
                            <a:schemeClr val="tx1"/>
                          </a:solidFill>
                        </a:rPr>
                        <a:t>+0.03</a:t>
                      </a:r>
                      <a:endParaRPr lang="en-US" sz="1200" dirty="0"/>
                    </a:p>
                  </a:txBody>
                  <a:tcPr marL="45720" marR="45720" marT="45720" marB="4572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200" dirty="0">
                          <a:solidFill>
                            <a:schemeClr val="tx1"/>
                          </a:solidFill>
                        </a:rPr>
                        <a:t>+0.05</a:t>
                      </a:r>
                      <a:endParaRPr lang="en-US" sz="1200" dirty="0"/>
                    </a:p>
                  </a:txBody>
                  <a:tcPr marL="45720" marR="45720" marT="45720" marB="4572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0">
                <a:tc>
                  <a:txBody>
                    <a:bodyPr/>
                    <a:lstStyle/>
                    <a:p>
                      <a:pPr algn="l" indent="0" marL="0">
                        <a:buNone/>
                      </a:pPr>
                      <a:r>
                        <a:rPr lang="en-US" sz="1200" dirty="0">
                          <a:solidFill>
                            <a:schemeClr val="tx1"/>
                          </a:solidFill>
                        </a:rPr>
                        <a:t>Confidence at word starts (wconf)</a:t>
                      </a:r>
                      <a:endParaRPr lang="en-US" sz="1200" dirty="0"/>
                    </a:p>
                  </a:txBody>
                  <a:tcPr marL="45720" marR="45720" marT="45720" marB="4572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200" dirty="0">
                          <a:solidFill>
                            <a:schemeClr val="tx1"/>
                          </a:solidFill>
                        </a:rPr>
                        <a:t>+0.25</a:t>
                      </a:r>
                      <a:endParaRPr lang="en-US" sz="1200" dirty="0"/>
                    </a:p>
                  </a:txBody>
                  <a:tcPr marL="45720" marR="45720" marT="45720" marB="4572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200" dirty="0">
                          <a:solidFill>
                            <a:schemeClr val="tx1"/>
                          </a:solidFill>
                        </a:rPr>
                        <a:t>+0.23</a:t>
                      </a:r>
                      <a:endParaRPr lang="en-US" sz="1200" dirty="0"/>
                    </a:p>
                  </a:txBody>
                  <a:tcPr marL="45720" marR="45720" marT="45720" marB="4572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r>
              <a:tr h="0">
                <a:tc>
                  <a:txBody>
                    <a:bodyPr/>
                    <a:lstStyle/>
                    <a:p>
                      <a:pPr algn="l" indent="0" marL="0">
                        <a:buNone/>
                      </a:pPr>
                      <a:r>
                        <a:rPr lang="en-US" sz="1200" b="1" dirty="0">
                          <a:solidFill>
                            <a:schemeClr val="tx1"/>
                          </a:solidFill>
                        </a:rPr>
                        <a:t>Confidence always (entropy)</a:t>
                      </a:r>
                      <a:endParaRPr lang="en-US" sz="1200" dirty="0"/>
                    </a:p>
                  </a:txBody>
                  <a:tcPr marL="45720" marR="45720" marT="45720" marB="4572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tcPr>
                </a:tc>
                <a:tc>
                  <a:txBody>
                    <a:bodyPr/>
                    <a:lstStyle/>
                    <a:p>
                      <a:pPr algn="ctr" indent="0" marL="0">
                        <a:buNone/>
                      </a:pPr>
                      <a:r>
                        <a:rPr lang="en-US" sz="1200" b="1" dirty="0">
                          <a:solidFill>
                            <a:schemeClr val="tx1"/>
                          </a:solidFill>
                        </a:rPr>
                        <a:t>+0.33</a:t>
                      </a:r>
                      <a:endParaRPr lang="en-US" sz="1200" dirty="0"/>
                    </a:p>
                  </a:txBody>
                  <a:tcPr marL="45720" marR="45720" marT="45720" marB="4572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1200" b="1" dirty="0">
                          <a:solidFill>
                            <a:schemeClr val="tx1"/>
                          </a:solidFill>
                        </a:rPr>
                        <a:t>+0.28</a:t>
                      </a:r>
                      <a:endParaRPr lang="en-US" sz="1200" dirty="0"/>
                    </a:p>
                  </a:txBody>
                  <a:tcPr marL="45720" marR="45720" marT="45720" marB="45720">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15" name="gain-caption"/>
          <p:cNvSpPr txBox="1"/>
          <p:nvPr/>
        </p:nvSpPr>
        <p:spPr>
          <a:xfrm>
            <a:off x="4937760" y="3749040"/>
            <a:ext cx="3749040" cy="594360"/>
          </a:xfrm>
          <a:prstGeom prst="rect">
            <a:avLst/>
          </a:prstGeom>
          <a:noFill/>
          <a:ln/>
        </p:spPr>
        <p:txBody>
          <a:bodyPr wrap="square" lIns="0" tIns="0" rIns="0" bIns="0" rtlCol="0" anchor="t"/>
          <a:lstStyle/>
          <a:p>
            <a:pPr indent="0" marL="0">
              <a:buNone/>
            </a:pPr>
            <a:r>
              <a:rPr lang="en-US" sz="1200" i="1" dirty="0">
                <a:solidFill>
                  <a:schemeClr val="tx1"/>
                </a:solidFill>
              </a:rPr>
              <a:t>Word boundaries alone tie with a fixed window. Position helps, but confidence is needed at both word starts and continuations.</a:t>
            </a:r>
            <a:endParaRPr lang="en-US" sz="12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nchor="ctr"/>
          <a:lstStyle/>
          <a:p>
            <a:pPr indent="0" marL="0">
              <a:buNone/>
            </a:pPr>
            <a:r>
              <a:rPr lang="en-US" sz="2800" b="1" dirty="0">
                <a:solidFill>
                  <a:schemeClr val="tx2"/>
                </a:solidFill>
              </a:rPr>
              <a:t>Next steps and challenges</a:t>
            </a:r>
            <a:endParaRPr lang="en-US" sz="2800" dirty="0"/>
          </a:p>
        </p:txBody>
      </p:sp>
      <p:sp>
        <p:nvSpPr>
          <p:cNvPr id="3" name="plan-head"/>
          <p:cNvSpPr txBox="1"/>
          <p:nvPr/>
        </p:nvSpPr>
        <p:spPr>
          <a:xfrm>
            <a:off x="457200" y="960120"/>
            <a:ext cx="4023360" cy="320040"/>
          </a:xfrm>
          <a:prstGeom prst="rect">
            <a:avLst/>
          </a:prstGeom>
          <a:noFill/>
          <a:ln/>
        </p:spPr>
        <p:txBody>
          <a:bodyPr wrap="square" lIns="0" tIns="0" rIns="0" bIns="0" rtlCol="0" anchor="ctr"/>
          <a:lstStyle/>
          <a:p>
            <a:pPr indent="0" marL="0">
              <a:buNone/>
            </a:pPr>
            <a:r>
              <a:rPr lang="en-US" sz="1600" b="1" dirty="0">
                <a:solidFill>
                  <a:schemeClr val="tx2"/>
                </a:solidFill>
              </a:rPr>
              <a:t>Plan to final submission</a:t>
            </a:r>
            <a:endParaRPr lang="en-US" sz="1600" dirty="0"/>
          </a:p>
        </p:txBody>
      </p:sp>
      <p:sp>
        <p:nvSpPr>
          <p:cNvPr id="4" name="plan-num-0"/>
          <p:cNvSpPr txBox="1"/>
          <p:nvPr/>
        </p:nvSpPr>
        <p:spPr>
          <a:xfrm>
            <a:off x="457200" y="1417320"/>
            <a:ext cx="411480" cy="41148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5" name="plan-text-0"/>
          <p:cNvSpPr txBox="1"/>
          <p:nvPr/>
        </p:nvSpPr>
        <p:spPr>
          <a:xfrm>
            <a:off x="1005840" y="1371600"/>
            <a:ext cx="3474720" cy="731520"/>
          </a:xfrm>
          <a:prstGeom prst="rect">
            <a:avLst/>
          </a:prstGeom>
          <a:noFill/>
          <a:ln/>
        </p:spPr>
        <p:txBody>
          <a:bodyPr wrap="square" lIns="0" tIns="0" rIns="0" bIns="0" rtlCol="0" anchor="t"/>
          <a:lstStyle/>
          <a:p>
            <a:pPr indent="0" marL="0">
              <a:buNone/>
            </a:pPr>
            <a:r>
              <a:rPr lang="en-US" sz="1400" b="1" dirty="0">
                <a:solidFill>
                  <a:schemeClr val="tx2"/>
                </a:solidFill>
              </a:rPr>
              <a:t>Two-threshold drafting</a:t>
            </a:r>
            <a:endParaRPr lang="en-US" sz="1400" dirty="0"/>
          </a:p>
          <a:p>
            <a:pPr indent="0" marL="0">
              <a:buNone/>
            </a:pPr>
            <a:r>
              <a:rPr lang="en-US" sz="1300" dirty="0">
                <a:solidFill>
                  <a:schemeClr val="tx1"/>
                </a:solidFill>
              </a:rPr>
              <a:t>strict confidence at word starts, looser for continuations</a:t>
            </a:r>
            <a:endParaRPr lang="en-US" sz="1400" dirty="0"/>
          </a:p>
        </p:txBody>
      </p:sp>
      <p:sp>
        <p:nvSpPr>
          <p:cNvPr id="6" name="plan-num-1"/>
          <p:cNvSpPr txBox="1"/>
          <p:nvPr/>
        </p:nvSpPr>
        <p:spPr>
          <a:xfrm>
            <a:off x="457200" y="2240280"/>
            <a:ext cx="411480" cy="41148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7" name="plan-text-1"/>
          <p:cNvSpPr txBox="1"/>
          <p:nvPr/>
        </p:nvSpPr>
        <p:spPr>
          <a:xfrm>
            <a:off x="1005840" y="2194560"/>
            <a:ext cx="3474720" cy="731520"/>
          </a:xfrm>
          <a:prstGeom prst="rect">
            <a:avLst/>
          </a:prstGeom>
          <a:noFill/>
          <a:ln/>
        </p:spPr>
        <p:txBody>
          <a:bodyPr wrap="square" lIns="0" tIns="0" rIns="0" bIns="0" rtlCol="0" anchor="t"/>
          <a:lstStyle/>
          <a:p>
            <a:pPr indent="0" marL="0">
              <a:buNone/>
            </a:pPr>
            <a:r>
              <a:rPr lang="en-US" sz="1400" b="1" dirty="0">
                <a:solidFill>
                  <a:schemeClr val="tx2"/>
                </a:solidFill>
              </a:rPr>
              <a:t>Verification roll-back</a:t>
            </a:r>
            <a:endParaRPr lang="en-US" sz="1400" dirty="0"/>
          </a:p>
          <a:p>
            <a:pPr indent="0" marL="0">
              <a:buNone/>
            </a:pPr>
            <a:r>
              <a:rPr lang="en-US" sz="1300" dirty="0">
                <a:solidFill>
                  <a:schemeClr val="tx1"/>
                </a:solidFill>
              </a:rPr>
              <a:t>fix the 15–20% of rounds that end mid-word; stays lossless</a:t>
            </a:r>
            <a:endParaRPr lang="en-US" sz="1400" dirty="0"/>
          </a:p>
        </p:txBody>
      </p:sp>
      <p:sp>
        <p:nvSpPr>
          <p:cNvPr id="8" name="plan-num-2"/>
          <p:cNvSpPr txBox="1"/>
          <p:nvPr/>
        </p:nvSpPr>
        <p:spPr>
          <a:xfrm>
            <a:off x="457200" y="3063240"/>
            <a:ext cx="411480" cy="41148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9" name="plan-text-2"/>
          <p:cNvSpPr txBox="1"/>
          <p:nvPr/>
        </p:nvSpPr>
        <p:spPr>
          <a:xfrm>
            <a:off x="1005840" y="3017520"/>
            <a:ext cx="3474720" cy="731520"/>
          </a:xfrm>
          <a:prstGeom prst="rect">
            <a:avLst/>
          </a:prstGeom>
          <a:noFill/>
          <a:ln/>
        </p:spPr>
        <p:txBody>
          <a:bodyPr wrap="square" lIns="0" tIns="0" rIns="0" bIns="0" rtlCol="0" anchor="t"/>
          <a:lstStyle/>
          <a:p>
            <a:pPr indent="0" marL="0">
              <a:buNone/>
            </a:pPr>
            <a:r>
              <a:rPr lang="en-US" sz="1400" b="1" dirty="0">
                <a:solidFill>
                  <a:schemeClr val="tx2"/>
                </a:solidFill>
              </a:rPr>
              <a:t>Chunk and entity boundaries</a:t>
            </a:r>
            <a:endParaRPr lang="en-US" sz="1400" dirty="0"/>
          </a:p>
          <a:p>
            <a:pPr indent="0" marL="0">
              <a:buNone/>
            </a:pPr>
            <a:r>
              <a:rPr lang="en-US" sz="1300" dirty="0">
                <a:solidFill>
                  <a:schemeClr val="tx1"/>
                </a:solidFill>
              </a:rPr>
              <a:t>spaCy noun phrases and named entities; idiom completion with MAGPIE</a:t>
            </a:r>
            <a:endParaRPr lang="en-US" sz="1400" dirty="0"/>
          </a:p>
        </p:txBody>
      </p:sp>
      <p:sp>
        <p:nvSpPr>
          <p:cNvPr id="10" name="plan-num-3"/>
          <p:cNvSpPr txBox="1"/>
          <p:nvPr/>
        </p:nvSpPr>
        <p:spPr>
          <a:xfrm>
            <a:off x="457200" y="3886200"/>
            <a:ext cx="411480" cy="41148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1" name="plan-text-3"/>
          <p:cNvSpPr txBox="1"/>
          <p:nvPr/>
        </p:nvSpPr>
        <p:spPr>
          <a:xfrm>
            <a:off x="1005840" y="3840480"/>
            <a:ext cx="3474720" cy="731520"/>
          </a:xfrm>
          <a:prstGeom prst="rect">
            <a:avLst/>
          </a:prstGeom>
          <a:noFill/>
          <a:ln/>
        </p:spPr>
        <p:txBody>
          <a:bodyPr wrap="square" lIns="0" tIns="0" rIns="0" bIns="0" rtlCol="0" anchor="t"/>
          <a:lstStyle/>
          <a:p>
            <a:pPr indent="0" marL="0">
              <a:buNone/>
            </a:pPr>
            <a:r>
              <a:rPr lang="en-US" sz="1400" b="1" dirty="0">
                <a:solidFill>
                  <a:schemeClr val="tx2"/>
                </a:solidFill>
              </a:rPr>
              <a:t>Full benchmark</a:t>
            </a:r>
            <a:endParaRPr lang="en-US" sz="1400" dirty="0"/>
          </a:p>
          <a:p>
            <a:pPr indent="0" marL="0">
              <a:buNone/>
            </a:pPr>
            <a:r>
              <a:rPr lang="en-US" sz="1300" dirty="0">
                <a:solidFill>
                  <a:schemeClr val="tx1"/>
                </a:solidFill>
              </a:rPr>
              <a:t>all 480 Spec-Bench prompts, both pairs; stretch: Indic slice via named entities</a:t>
            </a:r>
            <a:endParaRPr lang="en-US" sz="1400" dirty="0"/>
          </a:p>
        </p:txBody>
      </p:sp>
      <p:sp>
        <p:nvSpPr>
          <p:cNvPr id="12" name="challenge-card"/>
          <p:cNvSpPr/>
          <p:nvPr/>
        </p:nvSpPr>
        <p:spPr>
          <a:xfrm>
            <a:off x="4846320" y="960120"/>
            <a:ext cx="3840480" cy="3657600"/>
          </a:xfrm>
          <a:prstGeom prst="roundRect">
            <a:avLst>
              <a:gd name="adj" fmla="val 2000"/>
            </a:avLst>
          </a:prstGeom>
          <a:solidFill>
            <a:schemeClr val="bg2"/>
          </a:solidFill>
          <a:ln/>
        </p:spPr>
      </p:sp>
      <p:sp>
        <p:nvSpPr>
          <p:cNvPr id="13" name="challenge-head"/>
          <p:cNvSpPr txBox="1"/>
          <p:nvPr/>
        </p:nvSpPr>
        <p:spPr>
          <a:xfrm>
            <a:off x="5029200" y="1051560"/>
            <a:ext cx="3474720" cy="320040"/>
          </a:xfrm>
          <a:prstGeom prst="rect">
            <a:avLst/>
          </a:prstGeom>
          <a:noFill/>
          <a:ln/>
        </p:spPr>
        <p:txBody>
          <a:bodyPr wrap="square" lIns="0" tIns="0" rIns="0" bIns="0" rtlCol="0" anchor="ctr"/>
          <a:lstStyle/>
          <a:p>
            <a:pPr indent="0" marL="0">
              <a:buNone/>
            </a:pPr>
            <a:r>
              <a:rPr lang="en-US" sz="1600" b="1" dirty="0">
                <a:solidFill>
                  <a:schemeClr val="tx2"/>
                </a:solidFill>
              </a:rPr>
              <a:t>Challenges</a:t>
            </a:r>
            <a:endParaRPr lang="en-US" sz="1600" dirty="0"/>
          </a:p>
        </p:txBody>
      </p:sp>
      <p:sp>
        <p:nvSpPr>
          <p:cNvPr id="14" name="challenge-list"/>
          <p:cNvSpPr txBox="1"/>
          <p:nvPr/>
        </p:nvSpPr>
        <p:spPr>
          <a:xfrm>
            <a:off x="5029200" y="1463040"/>
            <a:ext cx="3520440" cy="3063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Running spaCy inside the decoding loop costs CPU time and may cancel the gain</a:t>
            </a:r>
            <a:endParaRPr lang="en-US" sz="1400" dirty="0"/>
          </a:p>
          <a:p>
            <a:pPr marL="342900" indent="-342900">
              <a:spcAft>
                <a:spcPts val="800"/>
              </a:spcAft>
              <a:buSzPct val="100000"/>
              <a:buChar char="•"/>
            </a:pPr>
            <a:r>
              <a:rPr lang="en-US" sz="1400" dirty="0">
                <a:solidFill>
                  <a:schemeClr val="tx1"/>
                </a:solidFill>
              </a:rPr>
              <a:t>Word-level drafts are short, so fewer tokens per pass</a:t>
            </a:r>
            <a:endParaRPr lang="en-US" sz="1400" dirty="0"/>
          </a:p>
          <a:p>
            <a:pPr marL="342900" indent="-342900">
              <a:spcAft>
                <a:spcPts val="800"/>
              </a:spcAft>
              <a:buSzPct val="100000"/>
              <a:buChar char="•"/>
            </a:pPr>
            <a:r>
              <a:rPr lang="en-US" sz="1400" dirty="0">
                <a:solidFill>
                  <a:schemeClr val="tx1"/>
                </a:solidFill>
              </a:rPr>
              <a:t>Idioms are rare in benchmark text; need idiom-heavy test slices</a:t>
            </a:r>
            <a:endParaRPr lang="en-US" sz="1400" dirty="0"/>
          </a:p>
          <a:p>
            <a:pPr marL="342900" indent="-342900">
              <a:spcAft>
                <a:spcPts val="800"/>
              </a:spcAft>
              <a:buSzPct val="100000"/>
              <a:buChar char="•"/>
            </a:pPr>
            <a:r>
              <a:rPr lang="en-US" sz="1400" dirty="0">
                <a:solidFill>
                  <a:schemeClr val="tx1"/>
                </a:solidFill>
              </a:rPr>
              <a:t>Plain HuggingFace overhead hides speedups for small drafters; we report MAT as the main metric</a:t>
            </a:r>
            <a:endParaRPr lang="en-US" sz="14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Ink and Amber">
  <a:themeElements>
    <a:clrScheme name="Ink and Amber">
      <a:dk1>
        <a:srgbClr val="1B2333"/>
      </a:dk1>
      <a:lt1>
        <a:srgbClr val="FFFFFF"/>
      </a:lt1>
      <a:dk2>
        <a:srgbClr val="1F2A44"/>
      </a:dk2>
      <a:lt2>
        <a:srgbClr val="EEF2F7"/>
      </a:lt2>
      <a:accent1>
        <a:srgbClr val="E8A33D"/>
      </a:accent1>
      <a:accent2>
        <a:srgbClr val="2A9D8F"/>
      </a:accent2>
      <a:accent3>
        <a:srgbClr val="7A8599"/>
      </a:accent3>
      <a:accent4>
        <a:srgbClr val="C8553D"/>
      </a:accent4>
      <a:accent5>
        <a:srgbClr val="5B6C8F"/>
      </a:accent5>
      <a:accent6>
        <a:srgbClr val="C9D3E3"/>
      </a:accent6>
      <a:hlink>
        <a:srgbClr val="2A9D8F"/>
      </a:hlink>
      <a:folHlink>
        <a:srgbClr val="5B6C8F"/>
      </a:folHlink>
    </a:clrScheme>
    <a:fontScheme name="Ink and A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Linguistically Guided Drafting for Speculative Decoding</dc:title>
  <dc:subject>PptxGenJS Presentation</dc:subject>
  <dc:creator>T VamsiKrishna Yadav, Kumar Rajnish</dc:creator>
  <cp:lastModifiedBy>T VamsiKrishna Yadav, Kumar Rajnish</cp:lastModifiedBy>
  <cp:revision>1</cp:revision>
  <dcterms:created xsi:type="dcterms:W3CDTF">2026-10-10T14:47:50Z</dcterms:created>
  <dcterms:modified xsi:type="dcterms:W3CDTF">2026-10-10T14:47:50Z</dcterms:modified>
</cp:coreProperties>
</file>